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Opening: Riftbrawl is a produced, team-based Riftbound showcase. We ran the first one in Singapore alongside the Regional Qualifier and want to make it a recurring stop-by-stop event with Riot/UVS or LGS prize support.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Format is deliberately compact: four teams, round robin, one evening. It fits into a Friday slot before the main event without competing with the RQ itself.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Riftbrawl Singapore was a mini tournament for top teams attending RQ Singapore. Four teams (Disguised, The Secret Sauce, Ascension, Challenger TCG), streamed with co-streams; VODs uploaded roughly five days ago. Per-video view counts should be pulled from YouTube Studio before sending.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turnemsideways: 63 hours streamed, 4,212 hours watched, 66 average, 188 peak in the trailing 30 days; ranked #11 most-watched Riftbound channel and #8 English. anzidmtg: 7.9K followers, 65 average viewers, 2,257 peak, 4,535 hours across 796 active days; Twitch Partner who also produced the Riftbound $10K at SCGCON Vegas.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Option A is the preferred path: in-venue, on-schedule, with prize support from organized play. Option B is the fallback with a partner LGS. Best case is both: an official showcase plus a locals night.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ask: 40 Prize Wall tickets, Thursday table space in the hall, hotel, flight voucher, meals, and a Friday showcase slot. Everything else, cameras, desk, overlays, talent, streaming, we bring.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Thursday is a quiet setup day (badge pickup). Friday is the showcase. Saturday and Sunday we co-stream the main event as usual, which is where Riftbrawl replays keep working for the organizer.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realistic windows: RQ Los Angeles (Sept 25–27, LACC West Hall A) and the NA Regional Championship at Convergence Fest, Las Vegas (Dec 11–13). Close with the five-item checklist.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image" Target="../media/image-5-10.png"/><Relationship Id="rId11" Type="http://schemas.openxmlformats.org/officeDocument/2006/relationships/image" Target="../media/image-5-11.png"/><Relationship Id="rId12" Type="http://schemas.openxmlformats.org/officeDocument/2006/relationships/image" Target="../media/image-5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4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097280"/>
            <a:ext cx="6400800" cy="6400800"/>
          </a:xfrm>
          <a:prstGeom prst="ellipse">
            <a:avLst/>
          </a:prstGeom>
          <a:solidFill>
            <a:srgbClr val="16264A">
              <a:alpha val="65000"/>
            </a:srgbClr>
          </a:solidFill>
          <a:ln w="12700">
            <a:solidFill>
              <a:srgbClr val="1626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26880" y="3291840"/>
            <a:ext cx="4206240" cy="4206240"/>
          </a:xfrm>
          <a:prstGeom prst="ellipse">
            <a:avLst/>
          </a:prstGeom>
          <a:solidFill>
            <a:srgbClr val="1B2E56">
              <a:alpha val="55000"/>
            </a:srgbClr>
          </a:solidFill>
          <a:ln w="12700">
            <a:solidFill>
              <a:srgbClr val="1B2E5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64040" y="2011680"/>
            <a:ext cx="0" cy="2834640"/>
          </a:xfrm>
          <a:prstGeom prst="line">
            <a:avLst/>
          </a:prstGeom>
          <a:noFill/>
          <a:ln w="19050">
            <a:solidFill>
              <a:srgbClr val="0AC8B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0" y="3429000"/>
            <a:ext cx="2834640" cy="0"/>
          </a:xfrm>
          <a:prstGeom prst="line">
            <a:avLst/>
          </a:prstGeom>
          <a:noFill/>
          <a:ln w="19050">
            <a:solidFill>
              <a:srgbClr val="0AC8B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961120" y="2926080"/>
            <a:ext cx="1005840" cy="1005840"/>
          </a:xfrm>
          <a:prstGeom prst="ellipse">
            <a:avLst/>
          </a:prstGeom>
          <a:solidFill>
            <a:srgbClr val="C8AA6E"/>
          </a:solidFill>
          <a:ln w="12700">
            <a:solidFill>
              <a:srgbClr val="C8AA6E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0" y="3154680"/>
            <a:ext cx="548640" cy="5486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938260" y="1485900"/>
            <a:ext cx="1051560" cy="1051560"/>
          </a:xfrm>
          <a:prstGeom prst="ellipse">
            <a:avLst/>
          </a:prstGeom>
          <a:solidFill>
            <a:srgbClr val="0A1428"/>
          </a:solidFill>
          <a:ln w="25400">
            <a:solidFill>
              <a:srgbClr val="C8AA6E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011412" y="1485900"/>
            <a:ext cx="90525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0C9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DSG</a:t>
            </a:r>
            <a:endParaRPr lang="en-US" sz="130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F0E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Disguised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10355580" y="2903220"/>
            <a:ext cx="1051560" cy="1051560"/>
          </a:xfrm>
          <a:prstGeom prst="ellipse">
            <a:avLst/>
          </a:prstGeom>
          <a:solidFill>
            <a:srgbClr val="0A1428"/>
          </a:solidFill>
          <a:ln w="25400">
            <a:solidFill>
              <a:srgbClr val="C8AA6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8732" y="2903220"/>
            <a:ext cx="90525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0C9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TSS</a:t>
            </a:r>
            <a:endParaRPr lang="en-US" sz="130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F0E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Secret Sauce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8938260" y="4320540"/>
            <a:ext cx="1051560" cy="1051560"/>
          </a:xfrm>
          <a:prstGeom prst="ellipse">
            <a:avLst/>
          </a:prstGeom>
          <a:solidFill>
            <a:srgbClr val="0A1428"/>
          </a:solidFill>
          <a:ln w="25400">
            <a:solidFill>
              <a:srgbClr val="C8AA6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9011412" y="4320540"/>
            <a:ext cx="90525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0C9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</a:t>
            </a:r>
            <a:endParaRPr lang="en-US" sz="130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F0E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Ascension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7520940" y="2903220"/>
            <a:ext cx="1051560" cy="1051560"/>
          </a:xfrm>
          <a:prstGeom prst="ellipse">
            <a:avLst/>
          </a:prstGeom>
          <a:solidFill>
            <a:srgbClr val="0A1428"/>
          </a:solidFill>
          <a:ln w="25400">
            <a:solidFill>
              <a:srgbClr val="C8AA6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594092" y="2903220"/>
            <a:ext cx="90525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0C9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CTCG</a:t>
            </a:r>
            <a:endParaRPr lang="en-US" sz="130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F0E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Challenger TCG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640080" y="123444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400" kern="0" dirty="0">
                <a:solidFill>
                  <a:srgbClr val="C8A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TURN'EM SIDEWAYS  ×  ANZIDMTG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640080" y="1645920"/>
            <a:ext cx="7315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F0E6D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RIFTBRAWL</a:t>
            </a:r>
            <a:endParaRPr lang="en-US" sz="80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301752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0E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team brawl showcase for Riftbound</a:t>
            </a:r>
            <a:endParaRPr lang="en-US" sz="24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356616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AC8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3v3v3v3 round robin  ·  12–16 invited players  ·  live with commentary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539496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&amp; prize-support proposal  ·  September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14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0E6D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Riftbrawl?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8A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team-format invitational built for broadcast, not a Swiss grind.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94360" y="1828800"/>
            <a:ext cx="566928" cy="566928"/>
          </a:xfrm>
          <a:prstGeom prst="ellipse">
            <a:avLst/>
          </a:prstGeom>
          <a:solidFill>
            <a:srgbClr val="C8AA6E"/>
          </a:solidFill>
          <a:ln w="12700">
            <a:solidFill>
              <a:srgbClr val="C8AA6E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0423" y="1964863"/>
            <a:ext cx="294803" cy="29480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1783080"/>
            <a:ext cx="5394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0E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teams of three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1371600" y="2130552"/>
            <a:ext cx="5394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AA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Disguised, The Secret Sauce, Ascension and Challenger TCG in a 3v3v3v3 team brawl. Flexes to 16 with an alternate per team.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94360" y="2880360"/>
            <a:ext cx="566928" cy="566928"/>
          </a:xfrm>
          <a:prstGeom prst="ellipse">
            <a:avLst/>
          </a:prstGeom>
          <a:solidFill>
            <a:srgbClr val="C8AA6E"/>
          </a:solidFill>
          <a:ln w="12700">
            <a:solidFill>
              <a:srgbClr val="C8AA6E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423" y="3016423"/>
            <a:ext cx="294803" cy="294803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371600" y="2834640"/>
            <a:ext cx="5394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0E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robin, every team plays every team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1371600" y="3182112"/>
            <a:ext cx="5394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AA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Short, high-stakes rounds keep the desk busy and the bracket easy to follow on stream.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594360" y="3931920"/>
            <a:ext cx="566928" cy="566928"/>
          </a:xfrm>
          <a:prstGeom prst="ellipse">
            <a:avLst/>
          </a:prstGeom>
          <a:solidFill>
            <a:srgbClr val="C8AA6E"/>
          </a:solidFill>
          <a:ln w="12700">
            <a:solidFill>
              <a:srgbClr val="C8AA6E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0423" y="4067983"/>
            <a:ext cx="294803" cy="294803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371600" y="3886200"/>
            <a:ext cx="5394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0E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Produced showcase with commentary</a:t>
            </a:r>
            <a:endParaRPr lang="en-US" sz="1700" dirty="0"/>
          </a:p>
        </p:txBody>
      </p:sp>
      <p:sp>
        <p:nvSpPr>
          <p:cNvPr id="15" name="Text 10"/>
          <p:cNvSpPr txBox="1"/>
          <p:nvPr/>
        </p:nvSpPr>
        <p:spPr>
          <a:xfrm>
            <a:off x="1371600" y="4233672"/>
            <a:ext cx="5394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AA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Camera-ready table, a two-person desk, overlays and player intros. Built to be watched.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594360" y="4983480"/>
            <a:ext cx="566928" cy="566928"/>
          </a:xfrm>
          <a:prstGeom prst="ellipse">
            <a:avLst/>
          </a:prstGeom>
          <a:solidFill>
            <a:srgbClr val="C8AA6E"/>
          </a:solidFill>
          <a:ln w="12700">
            <a:solidFill>
              <a:srgbClr val="C8AA6E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0423" y="5119543"/>
            <a:ext cx="294803" cy="294803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371600" y="4937760"/>
            <a:ext cx="5394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0E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Streamed on two channels</a:t>
            </a:r>
            <a:endParaRPr lang="en-US" sz="1700" dirty="0"/>
          </a:p>
        </p:txBody>
      </p:sp>
      <p:sp>
        <p:nvSpPr>
          <p:cNvPr id="19" name="Text 13"/>
          <p:cNvSpPr txBox="1"/>
          <p:nvPr/>
        </p:nvSpPr>
        <p:spPr>
          <a:xfrm>
            <a:off x="1371600" y="5285232"/>
            <a:ext cx="5394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AA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on twitch.tv/turnemsideways and twitch.tv/anzidmtg, with VOD and highlights on YouTube.</a:t>
            </a:r>
            <a:endParaRPr lang="en-US" sz="1250" dirty="0"/>
          </a:p>
        </p:txBody>
      </p:sp>
      <p:sp>
        <p:nvSpPr>
          <p:cNvPr id="20" name="Shape 14"/>
          <p:cNvSpPr/>
          <p:nvPr/>
        </p:nvSpPr>
        <p:spPr>
          <a:xfrm>
            <a:off x="7315200" y="1783080"/>
            <a:ext cx="4343400" cy="4160520"/>
          </a:xfrm>
          <a:prstGeom prst="roundRect">
            <a:avLst>
              <a:gd name="adj" fmla="val 2637"/>
            </a:avLst>
          </a:prstGeom>
          <a:solidFill>
            <a:srgbClr val="16264A"/>
          </a:solidFill>
          <a:ln w="12700">
            <a:solidFill>
              <a:srgbClr val="16264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21" name="Text 15"/>
          <p:cNvSpPr txBox="1"/>
          <p:nvPr/>
        </p:nvSpPr>
        <p:spPr>
          <a:xfrm>
            <a:off x="7589520" y="196596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8A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 AT A GLANCE</a:t>
            </a:r>
            <a:endParaRPr lang="en-US" sz="1100" dirty="0"/>
          </a:p>
        </p:txBody>
      </p:sp>
      <p:sp>
        <p:nvSpPr>
          <p:cNvPr id="22" name="Text 16"/>
          <p:cNvSpPr txBox="1"/>
          <p:nvPr/>
        </p:nvSpPr>
        <p:spPr>
          <a:xfrm>
            <a:off x="7589520" y="242316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AC8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Players</a:t>
            </a:r>
            <a:endParaRPr lang="en-US" sz="1200" dirty="0"/>
          </a:p>
        </p:txBody>
      </p:sp>
      <p:sp>
        <p:nvSpPr>
          <p:cNvPr id="23" name="Text 17"/>
          <p:cNvSpPr txBox="1"/>
          <p:nvPr/>
        </p:nvSpPr>
        <p:spPr>
          <a:xfrm>
            <a:off x="8869680" y="242316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0E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12–16 (4 teams × 3, + alternates)</a:t>
            </a:r>
            <a:endParaRPr lang="en-US" sz="1200" dirty="0"/>
          </a:p>
        </p:txBody>
      </p:sp>
      <p:sp>
        <p:nvSpPr>
          <p:cNvPr id="24" name="Text 18"/>
          <p:cNvSpPr txBox="1"/>
          <p:nvPr/>
        </p:nvSpPr>
        <p:spPr>
          <a:xfrm>
            <a:off x="7589520" y="2990088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AC8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8869680" y="2990088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0E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3v3v3v3 team brawl, round robin</a:t>
            </a:r>
            <a:endParaRPr lang="en-US" sz="1200" dirty="0"/>
          </a:p>
        </p:txBody>
      </p:sp>
      <p:sp>
        <p:nvSpPr>
          <p:cNvPr id="26" name="Text 20"/>
          <p:cNvSpPr txBox="1"/>
          <p:nvPr/>
        </p:nvSpPr>
        <p:spPr>
          <a:xfrm>
            <a:off x="7589520" y="3557016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AC8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Rounds</a:t>
            </a:r>
            <a:endParaRPr lang="en-US" sz="1200" dirty="0"/>
          </a:p>
        </p:txBody>
      </p:sp>
      <p:sp>
        <p:nvSpPr>
          <p:cNvPr id="27" name="Text 21"/>
          <p:cNvSpPr txBox="1"/>
          <p:nvPr/>
        </p:nvSpPr>
        <p:spPr>
          <a:xfrm>
            <a:off x="8869680" y="3557016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0E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team faces every team</a:t>
            </a:r>
            <a:endParaRPr lang="en-US" sz="1200" dirty="0"/>
          </a:p>
        </p:txBody>
      </p:sp>
      <p:sp>
        <p:nvSpPr>
          <p:cNvPr id="28" name="Text 22"/>
          <p:cNvSpPr txBox="1"/>
          <p:nvPr/>
        </p:nvSpPr>
        <p:spPr>
          <a:xfrm>
            <a:off x="7589520" y="4123944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AC8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time</a:t>
            </a:r>
            <a:endParaRPr lang="en-US" sz="1200" dirty="0"/>
          </a:p>
        </p:txBody>
      </p:sp>
      <p:sp>
        <p:nvSpPr>
          <p:cNvPr id="29" name="Text 23"/>
          <p:cNvSpPr txBox="1"/>
          <p:nvPr/>
        </p:nvSpPr>
        <p:spPr>
          <a:xfrm>
            <a:off x="8869680" y="4123944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0E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evening block (Friday)</a:t>
            </a:r>
            <a:endParaRPr lang="en-US" sz="1200" dirty="0"/>
          </a:p>
        </p:txBody>
      </p:sp>
      <p:sp>
        <p:nvSpPr>
          <p:cNvPr id="30" name="Text 24"/>
          <p:cNvSpPr txBox="1"/>
          <p:nvPr/>
        </p:nvSpPr>
        <p:spPr>
          <a:xfrm>
            <a:off x="7589520" y="4690872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AC8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need</a:t>
            </a:r>
            <a:endParaRPr lang="en-US" sz="1200" dirty="0"/>
          </a:p>
        </p:txBody>
      </p:sp>
      <p:sp>
        <p:nvSpPr>
          <p:cNvPr id="31" name="Text 25"/>
          <p:cNvSpPr txBox="1"/>
          <p:nvPr/>
        </p:nvSpPr>
        <p:spPr>
          <a:xfrm>
            <a:off x="8869680" y="4690872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0E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feature table + staging</a:t>
            </a:r>
            <a:endParaRPr lang="en-US" sz="1200" dirty="0"/>
          </a:p>
        </p:txBody>
      </p:sp>
      <p:sp>
        <p:nvSpPr>
          <p:cNvPr id="32" name="Text 26"/>
          <p:cNvSpPr txBox="1"/>
          <p:nvPr/>
        </p:nvSpPr>
        <p:spPr>
          <a:xfrm>
            <a:off x="7589520" y="525780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AC8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Prizing</a:t>
            </a:r>
            <a:endParaRPr lang="en-US" sz="1200" dirty="0"/>
          </a:p>
        </p:txBody>
      </p:sp>
      <p:sp>
        <p:nvSpPr>
          <p:cNvPr id="33" name="Text 27"/>
          <p:cNvSpPr txBox="1"/>
          <p:nvPr/>
        </p:nvSpPr>
        <p:spPr>
          <a:xfrm>
            <a:off x="8869680" y="525780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0E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Prize Wall tickets to winning team</a:t>
            </a:r>
            <a:endParaRPr lang="en-US" sz="1200" dirty="0"/>
          </a:p>
        </p:txBody>
      </p:sp>
      <p:sp>
        <p:nvSpPr>
          <p:cNvPr id="34" name="Text 28"/>
          <p:cNvSpPr txBox="1"/>
          <p:nvPr/>
        </p:nvSpPr>
        <p:spPr>
          <a:xfrm>
            <a:off x="11247120" y="6355080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AA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14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0E6D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already ran one: Riftbrawl Singapore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8A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Pro-player invitational showdown, live from RQ Singapore weekend (Sept 4–6, 2026).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rgbClr val="F0C96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6060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0E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invited teams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3154680" y="1783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rgbClr val="F0C96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3154680" y="26060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0E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 players on the feature table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31546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rgbClr val="0AC8B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3v3v3v3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39776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0E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brawl, round robin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3154680" y="31546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rgbClr val="0AC8B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3154680" y="39776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0E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streams: main broadcast + co-streams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94360" y="4572000"/>
            <a:ext cx="1261872" cy="603504"/>
          </a:xfrm>
          <a:prstGeom prst="roundRect">
            <a:avLst>
              <a:gd name="adj" fmla="val 15152"/>
            </a:avLst>
          </a:prstGeom>
          <a:solidFill>
            <a:srgbClr val="1B2E56"/>
          </a:solidFill>
          <a:ln w="12700">
            <a:solidFill>
              <a:srgbClr val="C8AA6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94360" y="4572000"/>
            <a:ext cx="12618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0C9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DSG</a:t>
            </a:r>
            <a:endParaRPr lang="en-US" sz="12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0E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Disguised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1947672" y="4572000"/>
            <a:ext cx="1261872" cy="603504"/>
          </a:xfrm>
          <a:prstGeom prst="roundRect">
            <a:avLst>
              <a:gd name="adj" fmla="val 15152"/>
            </a:avLst>
          </a:prstGeom>
          <a:solidFill>
            <a:srgbClr val="1B2E56"/>
          </a:solidFill>
          <a:ln w="12700">
            <a:solidFill>
              <a:srgbClr val="C8AA6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947672" y="4572000"/>
            <a:ext cx="12618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0C9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TSS</a:t>
            </a:r>
            <a:endParaRPr lang="en-US" sz="12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0E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Secret Sauce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300984" y="4572000"/>
            <a:ext cx="1261872" cy="603504"/>
          </a:xfrm>
          <a:prstGeom prst="roundRect">
            <a:avLst>
              <a:gd name="adj" fmla="val 15152"/>
            </a:avLst>
          </a:prstGeom>
          <a:solidFill>
            <a:srgbClr val="1B2E56"/>
          </a:solidFill>
          <a:ln w="12700">
            <a:solidFill>
              <a:srgbClr val="C8AA6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300984" y="4572000"/>
            <a:ext cx="12618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0C9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</a:t>
            </a:r>
            <a:endParaRPr lang="en-US" sz="12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0E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Ascension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654296" y="4572000"/>
            <a:ext cx="1261872" cy="603504"/>
          </a:xfrm>
          <a:prstGeom prst="roundRect">
            <a:avLst>
              <a:gd name="adj" fmla="val 15152"/>
            </a:avLst>
          </a:prstGeom>
          <a:solidFill>
            <a:srgbClr val="1B2E56"/>
          </a:solidFill>
          <a:ln w="12700">
            <a:solidFill>
              <a:srgbClr val="C8AA6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654296" y="4572000"/>
            <a:ext cx="12618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0C9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CTCG</a:t>
            </a:r>
            <a:endParaRPr lang="en-US" sz="12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0E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Challenger TCG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309360" y="1783080"/>
            <a:ext cx="5349240" cy="4160520"/>
          </a:xfrm>
          <a:prstGeom prst="roundRect">
            <a:avLst>
              <a:gd name="adj" fmla="val 2637"/>
            </a:avLst>
          </a:prstGeom>
          <a:solidFill>
            <a:srgbClr val="16264A"/>
          </a:solidFill>
          <a:ln w="12700">
            <a:solidFill>
              <a:srgbClr val="16264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6583680" y="196596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8A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WEEKEND AROUND IT</a:t>
            </a:r>
            <a:endParaRPr lang="en-US" sz="1100" dirty="0"/>
          </a:p>
        </p:txBody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2468880"/>
            <a:ext cx="292608" cy="292608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7040880" y="2423160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0E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Riftbound Regional Qualifier: Singapore, Singapore EXPO</a:t>
            </a:r>
            <a:endParaRPr lang="en-US" sz="1250" dirty="0"/>
          </a:p>
        </p:txBody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3145536"/>
            <a:ext cx="292608" cy="292608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7040880" y="3099816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0E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2,055 players in the main event, a $25,000 USD prize pool</a:t>
            </a:r>
            <a:endParaRPr lang="en-US" sz="1250" dirty="0"/>
          </a:p>
        </p:txBody>
      </p:sp>
      <p:pic>
        <p:nvPicPr>
          <p:cNvPr id="2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3822192"/>
            <a:ext cx="292608" cy="292608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7040880" y="3776472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0E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coverage on Riftbound's YouTube and Twitch from 10:00 SGT</a:t>
            </a:r>
            <a:endParaRPr lang="en-US" sz="1250" dirty="0"/>
          </a:p>
        </p:txBody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0" y="4498848"/>
            <a:ext cx="292608" cy="292608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7040880" y="4453128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0E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Toast, Sydeon, Yvonnie, Brodin and Frodan featured on the viewing stage</a:t>
            </a:r>
            <a:endParaRPr lang="en-US" sz="1250" dirty="0"/>
          </a:p>
        </p:txBody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0" y="5175504"/>
            <a:ext cx="292608" cy="292608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7040880" y="5129784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0E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Riftbrawl ran as the pre-RQ showcase, with team-vs-team VODs published on YouTube</a:t>
            </a:r>
            <a:endParaRPr lang="en-US" sz="1250" dirty="0"/>
          </a:p>
        </p:txBody>
      </p:sp>
      <p:sp>
        <p:nvSpPr>
          <p:cNvPr id="32" name="Text 25"/>
          <p:cNvSpPr txBox="1"/>
          <p:nvPr/>
        </p:nvSpPr>
        <p:spPr>
          <a:xfrm>
            <a:off x="594360" y="5349240"/>
            <a:ext cx="5303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F0C9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Takeaway: the format works on a live stage, the teams showed up, and the VODs are on YouTube now. Next: do it with proper prize support and a Friday slot.</a:t>
            </a:r>
            <a:endParaRPr lang="en-US" sz="1250" dirty="0"/>
          </a:p>
        </p:txBody>
      </p:sp>
      <p:sp>
        <p:nvSpPr>
          <p:cNvPr id="33" name="Text 26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A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YouTube “RIFTBRAWL: Singapore | A pro player invitational Showdown”, “RiftBrawl Singapore – DSG vs TSS vs ASC vs CTCG”; Liquipedia (RQ Singapore 2026); playriftbound.com “All Eyes on Singapore”.</a:t>
            </a:r>
            <a:endParaRPr lang="en-US" sz="950" dirty="0"/>
          </a:p>
        </p:txBody>
      </p:sp>
      <p:sp>
        <p:nvSpPr>
          <p:cNvPr id="34" name="Text 27"/>
          <p:cNvSpPr txBox="1"/>
          <p:nvPr/>
        </p:nvSpPr>
        <p:spPr>
          <a:xfrm>
            <a:off x="11247120" y="6355080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AA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14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0E6D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channels, one broadcast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8A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channels carry the show live. Numbers below are from public trackers as of early September 2026.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440680" cy="4206240"/>
          </a:xfrm>
          <a:prstGeom prst="roundRect">
            <a:avLst>
              <a:gd name="adj" fmla="val 2609"/>
            </a:avLst>
          </a:prstGeom>
          <a:solidFill>
            <a:srgbClr val="16264A"/>
          </a:solidFill>
          <a:ln w="12700">
            <a:solidFill>
              <a:srgbClr val="16264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011680"/>
            <a:ext cx="548640" cy="548640"/>
          </a:xfrm>
          <a:prstGeom prst="ellipse">
            <a:avLst/>
          </a:prstGeom>
          <a:solidFill>
            <a:srgbClr val="C8AA6E"/>
          </a:solidFill>
          <a:ln w="12700">
            <a:solidFill>
              <a:srgbClr val="C8AA6E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4634" y="2143354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201168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0E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twitch.tv/turnemsideways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508760" y="2304288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Riftbound coverage hub · co-streams every RQ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274320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rgbClr val="F0C96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4,212</a:t>
            </a:r>
            <a:endParaRPr lang="en-US" sz="40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35661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0E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hours watched, last 30 days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3383280" y="274320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rgbClr val="F0C96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188</a:t>
            </a:r>
            <a:endParaRPr lang="en-US" sz="4000" dirty="0"/>
          </a:p>
        </p:txBody>
      </p:sp>
      <p:sp>
        <p:nvSpPr>
          <p:cNvPr id="12" name="Text 9"/>
          <p:cNvSpPr txBox="1"/>
          <p:nvPr/>
        </p:nvSpPr>
        <p:spPr>
          <a:xfrm>
            <a:off x="3383280" y="35661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0E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concurrent viewers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868680" y="425196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rgbClr val="0AC8B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</a:t>
            </a:r>
            <a:endParaRPr lang="en-US" sz="4000" dirty="0"/>
          </a:p>
        </p:txBody>
      </p:sp>
      <p:sp>
        <p:nvSpPr>
          <p:cNvPr id="14" name="Text 11"/>
          <p:cNvSpPr txBox="1"/>
          <p:nvPr/>
        </p:nvSpPr>
        <p:spPr>
          <a:xfrm>
            <a:off x="868680" y="50749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0E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viewers · 63 hrs live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3383280" y="425196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rgbClr val="0AC8B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#8</a:t>
            </a:r>
            <a:endParaRPr lang="en-US" sz="4000" dirty="0"/>
          </a:p>
        </p:txBody>
      </p:sp>
      <p:sp>
        <p:nvSpPr>
          <p:cNvPr id="16" name="Text 13"/>
          <p:cNvSpPr txBox="1"/>
          <p:nvPr/>
        </p:nvSpPr>
        <p:spPr>
          <a:xfrm>
            <a:off x="3383280" y="50749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0E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 Riftbound channel (#11 overall)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6217920" y="1783080"/>
            <a:ext cx="5440680" cy="4206240"/>
          </a:xfrm>
          <a:prstGeom prst="roundRect">
            <a:avLst>
              <a:gd name="adj" fmla="val 2609"/>
            </a:avLst>
          </a:prstGeom>
          <a:solidFill>
            <a:srgbClr val="16264A"/>
          </a:solidFill>
          <a:ln w="12700">
            <a:solidFill>
              <a:srgbClr val="16264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92240" y="2011680"/>
            <a:ext cx="548640" cy="548640"/>
          </a:xfrm>
          <a:prstGeom prst="ellipse">
            <a:avLst/>
          </a:prstGeom>
          <a:solidFill>
            <a:srgbClr val="C8AA6E"/>
          </a:solidFill>
          <a:ln w="12700">
            <a:solidFill>
              <a:srgbClr val="C8AA6E"/>
            </a:solidFill>
            <a:prstDash val="solid"/>
          </a:ln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3914" y="2143354"/>
            <a:ext cx="285293" cy="285293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7178040" y="201168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0E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twitch.tv/anzidmtg</a:t>
            </a:r>
            <a:endParaRPr lang="en-US" sz="1500" dirty="0"/>
          </a:p>
        </p:txBody>
      </p:sp>
      <p:sp>
        <p:nvSpPr>
          <p:cNvPr id="21" name="Text 17"/>
          <p:cNvSpPr txBox="1"/>
          <p:nvPr/>
        </p:nvSpPr>
        <p:spPr>
          <a:xfrm>
            <a:off x="7178040" y="2304288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Twitch Partner · produced the Riftbound $10K at SCGCON Vegas</a:t>
            </a:r>
            <a:endParaRPr lang="en-US" sz="1000" dirty="0"/>
          </a:p>
        </p:txBody>
      </p:sp>
      <p:sp>
        <p:nvSpPr>
          <p:cNvPr id="22" name="Text 18"/>
          <p:cNvSpPr txBox="1"/>
          <p:nvPr/>
        </p:nvSpPr>
        <p:spPr>
          <a:xfrm>
            <a:off x="6537960" y="274320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rgbClr val="F0C96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7.9K</a:t>
            </a:r>
            <a:endParaRPr lang="en-US" sz="4000" dirty="0"/>
          </a:p>
        </p:txBody>
      </p:sp>
      <p:sp>
        <p:nvSpPr>
          <p:cNvPr id="23" name="Text 19"/>
          <p:cNvSpPr txBox="1"/>
          <p:nvPr/>
        </p:nvSpPr>
        <p:spPr>
          <a:xfrm>
            <a:off x="6537960" y="35661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0E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Twitch followers</a:t>
            </a:r>
            <a:endParaRPr lang="en-US" sz="1250" dirty="0"/>
          </a:p>
        </p:txBody>
      </p:sp>
      <p:sp>
        <p:nvSpPr>
          <p:cNvPr id="24" name="Text 20"/>
          <p:cNvSpPr txBox="1"/>
          <p:nvPr/>
        </p:nvSpPr>
        <p:spPr>
          <a:xfrm>
            <a:off x="9052560" y="274320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rgbClr val="F0C96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2,257</a:t>
            </a:r>
            <a:endParaRPr lang="en-US" sz="4000" dirty="0"/>
          </a:p>
        </p:txBody>
      </p:sp>
      <p:sp>
        <p:nvSpPr>
          <p:cNvPr id="25" name="Text 21"/>
          <p:cNvSpPr txBox="1"/>
          <p:nvPr/>
        </p:nvSpPr>
        <p:spPr>
          <a:xfrm>
            <a:off x="9052560" y="35661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0E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concurrent viewers</a:t>
            </a:r>
            <a:endParaRPr lang="en-US" sz="1250" dirty="0"/>
          </a:p>
        </p:txBody>
      </p:sp>
      <p:sp>
        <p:nvSpPr>
          <p:cNvPr id="26" name="Text 22"/>
          <p:cNvSpPr txBox="1"/>
          <p:nvPr/>
        </p:nvSpPr>
        <p:spPr>
          <a:xfrm>
            <a:off x="6537960" y="425196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rgbClr val="0AC8B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4,535</a:t>
            </a:r>
            <a:endParaRPr lang="en-US" sz="4000" dirty="0"/>
          </a:p>
        </p:txBody>
      </p:sp>
      <p:sp>
        <p:nvSpPr>
          <p:cNvPr id="27" name="Text 23"/>
          <p:cNvSpPr txBox="1"/>
          <p:nvPr/>
        </p:nvSpPr>
        <p:spPr>
          <a:xfrm>
            <a:off x="6537960" y="50749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0E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hours streamed all-time</a:t>
            </a:r>
            <a:endParaRPr lang="en-US" sz="1250" dirty="0"/>
          </a:p>
        </p:txBody>
      </p:sp>
      <p:sp>
        <p:nvSpPr>
          <p:cNvPr id="28" name="Text 24"/>
          <p:cNvSpPr txBox="1"/>
          <p:nvPr/>
        </p:nvSpPr>
        <p:spPr>
          <a:xfrm>
            <a:off x="9052560" y="425196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rgbClr val="0AC8B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796</a:t>
            </a:r>
            <a:endParaRPr lang="en-US" sz="4000" dirty="0"/>
          </a:p>
        </p:txBody>
      </p:sp>
      <p:sp>
        <p:nvSpPr>
          <p:cNvPr id="29" name="Text 25"/>
          <p:cNvSpPr txBox="1"/>
          <p:nvPr/>
        </p:nvSpPr>
        <p:spPr>
          <a:xfrm>
            <a:off x="9052560" y="50749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0E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stream days</a:t>
            </a:r>
            <a:endParaRPr lang="en-US" sz="1250" dirty="0"/>
          </a:p>
        </p:txBody>
      </p:sp>
      <p:sp>
        <p:nvSpPr>
          <p:cNvPr id="30" name="Text 26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A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TwitchMetrics (turnemsideways, trailing 30 days); TwitchTracker (anzidmtg, all-time). YouTube VOD and co-stream views for Riftbrawl Singapore to be added from YouTube Studio.</a:t>
            </a:r>
            <a:endParaRPr lang="en-US" sz="950" dirty="0"/>
          </a:p>
        </p:txBody>
      </p:sp>
      <p:sp>
        <p:nvSpPr>
          <p:cNvPr id="31" name="Text 27"/>
          <p:cNvSpPr txBox="1"/>
          <p:nvPr/>
        </p:nvSpPr>
        <p:spPr>
          <a:xfrm>
            <a:off x="11247120" y="6355080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AA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14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0E6D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ways to run it. Ideally both.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8A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the path that fits the venue. Either way we produce and stream it.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440680" cy="3977640"/>
          </a:xfrm>
          <a:prstGeom prst="roundRect">
            <a:avLst>
              <a:gd name="adj" fmla="val 2759"/>
            </a:avLst>
          </a:prstGeom>
          <a:solidFill>
            <a:srgbClr val="16264A"/>
          </a:solidFill>
          <a:ln w="12700">
            <a:solidFill>
              <a:srgbClr val="16264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011680"/>
            <a:ext cx="566928" cy="566928"/>
          </a:xfrm>
          <a:prstGeom prst="ellipse">
            <a:avLst/>
          </a:prstGeom>
          <a:solidFill>
            <a:srgbClr val="C8AA6E"/>
          </a:solidFill>
          <a:ln w="12700">
            <a:solidFill>
              <a:srgbClr val="C8AA6E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9023" y="2147743"/>
            <a:ext cx="294803" cy="29480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201168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0E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A · Official showcase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1554480" y="233172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the RQ venue, on the event schedule</a:t>
            </a:r>
            <a:endParaRPr lang="en-US" sz="11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880360"/>
            <a:ext cx="237744" cy="23774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234440" y="283464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0E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Friday evening slot with a full commentary desk</a:t>
            </a:r>
            <a:endParaRPr lang="en-US" sz="1250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3483864"/>
            <a:ext cx="237744" cy="237744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234440" y="3438144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0E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table in the hall, produced like a top-cut</a:t>
            </a:r>
            <a:endParaRPr lang="en-US" sz="1250" dirty="0"/>
          </a:p>
        </p:txBody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087368"/>
            <a:ext cx="237744" cy="237744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234440" y="404164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0E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Prize Wall tickets funded by organized play</a:t>
            </a:r>
            <a:endParaRPr lang="en-US" sz="1250" dirty="0"/>
          </a:p>
        </p:txBody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4690872"/>
            <a:ext cx="237744" cy="237744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1234440" y="4645152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0E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Cross-promoted with the official broadcast and socials</a:t>
            </a:r>
            <a:endParaRPr lang="en-US" sz="1250" dirty="0"/>
          </a:p>
        </p:txBody>
      </p:sp>
      <p:pic>
        <p:nvPicPr>
          <p:cNvPr id="1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680" y="5294376"/>
            <a:ext cx="237744" cy="237744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1234440" y="5248656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0E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Sets up Saturday's co-stream audience</a:t>
            </a:r>
            <a:endParaRPr lang="en-US" sz="1250" dirty="0"/>
          </a:p>
        </p:txBody>
      </p:sp>
      <p:sp>
        <p:nvSpPr>
          <p:cNvPr id="19" name="Shape 11"/>
          <p:cNvSpPr/>
          <p:nvPr/>
        </p:nvSpPr>
        <p:spPr>
          <a:xfrm>
            <a:off x="6217920" y="1783080"/>
            <a:ext cx="5440680" cy="3977640"/>
          </a:xfrm>
          <a:prstGeom prst="roundRect">
            <a:avLst>
              <a:gd name="adj" fmla="val 2759"/>
            </a:avLst>
          </a:prstGeom>
          <a:solidFill>
            <a:srgbClr val="16264A"/>
          </a:solidFill>
          <a:ln w="12700">
            <a:solidFill>
              <a:srgbClr val="16264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20" name="Shape 12"/>
          <p:cNvSpPr/>
          <p:nvPr/>
        </p:nvSpPr>
        <p:spPr>
          <a:xfrm>
            <a:off x="6492240" y="2011680"/>
            <a:ext cx="566928" cy="566928"/>
          </a:xfrm>
          <a:prstGeom prst="ellipse">
            <a:avLst/>
          </a:prstGeom>
          <a:solidFill>
            <a:srgbClr val="0AC8B9"/>
          </a:solidFill>
          <a:ln w="12700">
            <a:solidFill>
              <a:srgbClr val="0AC8B9"/>
            </a:solidFill>
            <a:prstDash val="solid"/>
          </a:ln>
        </p:spPr>
      </p:sp>
      <p:pic>
        <p:nvPicPr>
          <p:cNvPr id="2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28303" y="2147743"/>
            <a:ext cx="294803" cy="294803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7223760" y="201168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0E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B · Unofficial at locals</a:t>
            </a:r>
            <a:endParaRPr lang="en-US" sz="1700" dirty="0"/>
          </a:p>
        </p:txBody>
      </p:sp>
      <p:sp>
        <p:nvSpPr>
          <p:cNvPr id="23" name="Text 14"/>
          <p:cNvSpPr txBox="1"/>
          <p:nvPr/>
        </p:nvSpPr>
        <p:spPr>
          <a:xfrm>
            <a:off x="7223760" y="233172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game store near the venue</a:t>
            </a:r>
            <a:endParaRPr lang="en-US" sz="1100" dirty="0"/>
          </a:p>
        </p:txBody>
      </p:sp>
      <p:pic>
        <p:nvPicPr>
          <p:cNvPr id="2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37960" y="2880360"/>
            <a:ext cx="237744" cy="237744"/>
          </a:xfrm>
          <a:prstGeom prst="rect">
            <a:avLst/>
          </a:prstGeom>
        </p:spPr>
      </p:pic>
      <p:sp>
        <p:nvSpPr>
          <p:cNvPr id="25" name="Text 15"/>
          <p:cNvSpPr txBox="1"/>
          <p:nvPr/>
        </p:nvSpPr>
        <p:spPr>
          <a:xfrm>
            <a:off x="6903720" y="283464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0E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Thursday or Friday night at a local game store</a:t>
            </a:r>
            <a:endParaRPr lang="en-US" sz="1250" dirty="0"/>
          </a:p>
        </p:txBody>
      </p:sp>
      <p:pic>
        <p:nvPicPr>
          <p:cNvPr id="26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37960" y="3483864"/>
            <a:ext cx="237744" cy="237744"/>
          </a:xfrm>
          <a:prstGeom prst="rect">
            <a:avLst/>
          </a:prstGeom>
        </p:spPr>
      </p:pic>
      <p:sp>
        <p:nvSpPr>
          <p:cNvPr id="27" name="Text 16"/>
          <p:cNvSpPr txBox="1"/>
          <p:nvPr/>
        </p:nvSpPr>
        <p:spPr>
          <a:xfrm>
            <a:off x="6903720" y="3438144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0E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provides prize support (packs, boxes, promos)</a:t>
            </a:r>
            <a:endParaRPr lang="en-US" sz="1250" dirty="0"/>
          </a:p>
        </p:txBody>
      </p:sp>
      <p:pic>
        <p:nvPicPr>
          <p:cNvPr id="28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37960" y="4087368"/>
            <a:ext cx="237744" cy="237744"/>
          </a:xfrm>
          <a:prstGeom prst="rect">
            <a:avLst/>
          </a:prstGeom>
        </p:spPr>
      </p:pic>
      <p:sp>
        <p:nvSpPr>
          <p:cNvPr id="29" name="Text 17"/>
          <p:cNvSpPr txBox="1"/>
          <p:nvPr/>
        </p:nvSpPr>
        <p:spPr>
          <a:xfrm>
            <a:off x="6903720" y="404164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0E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bring cameras, desk, overlays and the stream</a:t>
            </a:r>
            <a:endParaRPr lang="en-US" sz="1250" dirty="0"/>
          </a:p>
        </p:txBody>
      </p:sp>
      <p:pic>
        <p:nvPicPr>
          <p:cNvPr id="30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37960" y="4690872"/>
            <a:ext cx="237744" cy="237744"/>
          </a:xfrm>
          <a:prstGeom prst="rect">
            <a:avLst/>
          </a:prstGeom>
        </p:spPr>
      </p:pic>
      <p:sp>
        <p:nvSpPr>
          <p:cNvPr id="31" name="Text 18"/>
          <p:cNvSpPr txBox="1"/>
          <p:nvPr/>
        </p:nvSpPr>
        <p:spPr>
          <a:xfrm>
            <a:off x="6903720" y="4645152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0E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Drives foot traffic and signups to the store</a:t>
            </a:r>
            <a:endParaRPr lang="en-US" sz="1250" dirty="0"/>
          </a:p>
        </p:txBody>
      </p:sp>
      <p:pic>
        <p:nvPicPr>
          <p:cNvPr id="32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537960" y="5294376"/>
            <a:ext cx="237744" cy="237744"/>
          </a:xfrm>
          <a:prstGeom prst="rect">
            <a:avLst/>
          </a:prstGeom>
        </p:spPr>
      </p:pic>
      <p:sp>
        <p:nvSpPr>
          <p:cNvPr id="33" name="Text 19"/>
          <p:cNvSpPr txBox="1"/>
          <p:nvPr/>
        </p:nvSpPr>
        <p:spPr>
          <a:xfrm>
            <a:off x="6903720" y="5248656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0E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schedule conflict with the main event</a:t>
            </a:r>
            <a:endParaRPr lang="en-US" sz="1250" dirty="0"/>
          </a:p>
        </p:txBody>
      </p:sp>
      <p:sp>
        <p:nvSpPr>
          <p:cNvPr id="34" name="Text 20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0C9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Both: hotel, flight voucher and meals for the production crew make either option viable at any stop on the calendar.</a:t>
            </a:r>
            <a:endParaRPr lang="en-US" sz="1300" dirty="0"/>
          </a:p>
        </p:txBody>
      </p:sp>
      <p:sp>
        <p:nvSpPr>
          <p:cNvPr id="35" name="Text 21"/>
          <p:cNvSpPr txBox="1"/>
          <p:nvPr/>
        </p:nvSpPr>
        <p:spPr>
          <a:xfrm>
            <a:off x="11247120" y="6355080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AA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4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0E6D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we're asking for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8A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Small, specific, and mostly things the event already has on hand.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1B2E56"/>
          </a:solidFill>
          <a:ln w="12700">
            <a:solidFill>
              <a:srgbClr val="1B2E5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2057400"/>
            <a:ext cx="530352" cy="530352"/>
          </a:xfrm>
          <a:prstGeom prst="ellipse">
            <a:avLst/>
          </a:prstGeom>
          <a:solidFill>
            <a:srgbClr val="F0C96A"/>
          </a:solidFill>
          <a:ln w="12700">
            <a:solidFill>
              <a:srgbClr val="F0C96A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4524" y="2184684"/>
            <a:ext cx="275783" cy="27578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2084832"/>
            <a:ext cx="2423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0E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Prize Wall tickets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724912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AA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Prizing for the winning team. Forty tickets is one Plated Legend at the wall, or split as packs across the podium.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343400" y="182880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16264A"/>
          </a:solidFill>
          <a:ln w="12700">
            <a:solidFill>
              <a:srgbClr val="16264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72000" y="2057400"/>
            <a:ext cx="530352" cy="530352"/>
          </a:xfrm>
          <a:prstGeom prst="ellipse">
            <a:avLst/>
          </a:prstGeom>
          <a:solidFill>
            <a:srgbClr val="C8AA6E"/>
          </a:solidFill>
          <a:ln w="12700">
            <a:solidFill>
              <a:srgbClr val="C8AA6E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9284" y="2184684"/>
            <a:ext cx="275783" cy="27578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257800" y="2084832"/>
            <a:ext cx="2423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0E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space on Thursday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4572000" y="2724912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AA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feature table plus staging in the venue hall to set up, light and record. No stage, no AV from the venue.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138160" y="182880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16264A"/>
          </a:solidFill>
          <a:ln w="12700">
            <a:solidFill>
              <a:srgbClr val="16264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366760" y="2057400"/>
            <a:ext cx="530352" cy="530352"/>
          </a:xfrm>
          <a:prstGeom prst="ellipse">
            <a:avLst/>
          </a:prstGeom>
          <a:solidFill>
            <a:srgbClr val="C8AA6E"/>
          </a:solidFill>
          <a:ln w="12700">
            <a:solidFill>
              <a:srgbClr val="C8AA6E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4044" y="2184684"/>
            <a:ext cx="275783" cy="275783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052560" y="2084832"/>
            <a:ext cx="2423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0E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Hotel accommodations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8366760" y="2724912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AA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Rooms for the production crew across the event nights.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548640" y="384048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16264A"/>
          </a:solidFill>
          <a:ln w="12700">
            <a:solidFill>
              <a:srgbClr val="16264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777240" y="4069080"/>
            <a:ext cx="530352" cy="530352"/>
          </a:xfrm>
          <a:prstGeom prst="ellipse">
            <a:avLst/>
          </a:prstGeom>
          <a:solidFill>
            <a:srgbClr val="C8AA6E"/>
          </a:solidFill>
          <a:ln w="12700">
            <a:solidFill>
              <a:srgbClr val="C8AA6E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4524" y="4196364"/>
            <a:ext cx="275783" cy="275783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463040" y="4096512"/>
            <a:ext cx="2423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0E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Flight voucher</a:t>
            </a:r>
            <a:endParaRPr lang="en-US" sz="1500" dirty="0"/>
          </a:p>
        </p:txBody>
      </p:sp>
      <p:sp>
        <p:nvSpPr>
          <p:cNvPr id="23" name="Text 17"/>
          <p:cNvSpPr txBox="1"/>
          <p:nvPr/>
        </p:nvSpPr>
        <p:spPr>
          <a:xfrm>
            <a:off x="777240" y="4736592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AA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 to the host city for the crew, so each stop is a yes.</a:t>
            </a:r>
            <a:endParaRPr lang="en-US" sz="1150" dirty="0"/>
          </a:p>
        </p:txBody>
      </p:sp>
      <p:sp>
        <p:nvSpPr>
          <p:cNvPr id="24" name="Shape 18"/>
          <p:cNvSpPr/>
          <p:nvPr/>
        </p:nvSpPr>
        <p:spPr>
          <a:xfrm>
            <a:off x="4343400" y="384048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16264A"/>
          </a:solidFill>
          <a:ln w="12700">
            <a:solidFill>
              <a:srgbClr val="16264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4572000" y="4069080"/>
            <a:ext cx="530352" cy="530352"/>
          </a:xfrm>
          <a:prstGeom prst="ellipse">
            <a:avLst/>
          </a:prstGeom>
          <a:solidFill>
            <a:srgbClr val="C8AA6E"/>
          </a:solidFill>
          <a:ln w="12700">
            <a:solidFill>
              <a:srgbClr val="C8AA6E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99284" y="4196364"/>
            <a:ext cx="275783" cy="275783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257800" y="4096512"/>
            <a:ext cx="2423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0E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Meals</a:t>
            </a:r>
            <a:endParaRPr lang="en-US" sz="1500" dirty="0"/>
          </a:p>
        </p:txBody>
      </p:sp>
      <p:sp>
        <p:nvSpPr>
          <p:cNvPr id="28" name="Text 21"/>
          <p:cNvSpPr txBox="1"/>
          <p:nvPr/>
        </p:nvSpPr>
        <p:spPr>
          <a:xfrm>
            <a:off x="4572000" y="4736592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AA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Crew meals on production days.</a:t>
            </a:r>
            <a:endParaRPr lang="en-US" sz="1150" dirty="0"/>
          </a:p>
        </p:txBody>
      </p:sp>
      <p:sp>
        <p:nvSpPr>
          <p:cNvPr id="29" name="Shape 22"/>
          <p:cNvSpPr/>
          <p:nvPr/>
        </p:nvSpPr>
        <p:spPr>
          <a:xfrm>
            <a:off x="8138160" y="384048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16264A"/>
          </a:solidFill>
          <a:ln w="12700">
            <a:solidFill>
              <a:srgbClr val="16264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8366760" y="4069080"/>
            <a:ext cx="530352" cy="530352"/>
          </a:xfrm>
          <a:prstGeom prst="ellipse">
            <a:avLst/>
          </a:prstGeom>
          <a:solidFill>
            <a:srgbClr val="C8AA6E"/>
          </a:solidFill>
          <a:ln w="12700">
            <a:solidFill>
              <a:srgbClr val="C8AA6E"/>
            </a:solidFill>
            <a:prstDash val="solid"/>
          </a:ln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94044" y="4196364"/>
            <a:ext cx="275783" cy="275783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9052560" y="4096512"/>
            <a:ext cx="2423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0E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Friday slot</a:t>
            </a:r>
            <a:endParaRPr lang="en-US" sz="1500" dirty="0"/>
          </a:p>
        </p:txBody>
      </p:sp>
      <p:sp>
        <p:nvSpPr>
          <p:cNvPr id="33" name="Text 25"/>
          <p:cNvSpPr txBox="1"/>
          <p:nvPr/>
        </p:nvSpPr>
        <p:spPr>
          <a:xfrm>
            <a:off x="8366760" y="4736592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AA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evening window to run the showcase with commentary.</a:t>
            </a:r>
            <a:endParaRPr lang="en-US" sz="1150" dirty="0"/>
          </a:p>
        </p:txBody>
      </p:sp>
      <p:sp>
        <p:nvSpPr>
          <p:cNvPr id="34" name="Text 26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A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Prize Wall rate reference: 40 tickets = one Plated Legend (metal card); 1 ticket = one booster, per Riftbound Regional Qualifier prize-wall listings.</a:t>
            </a:r>
            <a:endParaRPr lang="en-US" sz="950" dirty="0"/>
          </a:p>
        </p:txBody>
      </p:sp>
      <p:sp>
        <p:nvSpPr>
          <p:cNvPr id="35" name="Text 27"/>
          <p:cNvSpPr txBox="1"/>
          <p:nvPr/>
        </p:nvSpPr>
        <p:spPr>
          <a:xfrm>
            <a:off x="11247120" y="6355080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AA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14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0E6D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Event weekend: how it runs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8A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only need table space Thursday and a Friday window. Nothing touches the main event days.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822960" cy="822960"/>
          </a:xfrm>
          <a:prstGeom prst="ellipse">
            <a:avLst/>
          </a:prstGeom>
          <a:solidFill>
            <a:srgbClr val="C8AA6E"/>
          </a:solidFill>
          <a:ln w="19050">
            <a:solidFill>
              <a:srgbClr val="C8AA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9659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14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THU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1417320" y="2377440"/>
            <a:ext cx="1920240" cy="0"/>
          </a:xfrm>
          <a:prstGeom prst="line">
            <a:avLst/>
          </a:prstGeom>
          <a:noFill/>
          <a:ln w="15875">
            <a:solidFill>
              <a:srgbClr val="0AC8B9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548640" y="3063240"/>
            <a:ext cx="2606040" cy="2240280"/>
          </a:xfrm>
          <a:prstGeom prst="roundRect">
            <a:avLst>
              <a:gd name="adj" fmla="val 4898"/>
            </a:avLst>
          </a:prstGeom>
          <a:solidFill>
            <a:srgbClr val="16264A"/>
          </a:solidFill>
          <a:ln w="12700">
            <a:solidFill>
              <a:srgbClr val="16264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77240" y="32461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0C9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Load-in &amp; record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3657600"/>
            <a:ext cx="2148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0E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the feature table in the hall, light it, record team intros and a format explainer. Badge pickup day, so the hall is quiet.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383280" y="1965960"/>
            <a:ext cx="822960" cy="822960"/>
          </a:xfrm>
          <a:prstGeom prst="ellipse">
            <a:avLst/>
          </a:prstGeom>
          <a:solidFill>
            <a:srgbClr val="F0C96A"/>
          </a:solidFill>
          <a:ln w="19050">
            <a:solidFill>
              <a:srgbClr val="C8AA6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383280" y="19659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14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FRI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251960" y="2377440"/>
            <a:ext cx="1920240" cy="0"/>
          </a:xfrm>
          <a:prstGeom prst="line">
            <a:avLst/>
          </a:prstGeom>
          <a:noFill/>
          <a:ln w="15875">
            <a:solidFill>
              <a:srgbClr val="0AC8B9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3383280" y="3063240"/>
            <a:ext cx="2606040" cy="2240280"/>
          </a:xfrm>
          <a:prstGeom prst="roundRect">
            <a:avLst>
              <a:gd name="adj" fmla="val 4898"/>
            </a:avLst>
          </a:prstGeom>
          <a:solidFill>
            <a:srgbClr val="16264A"/>
          </a:solidFill>
          <a:ln w="12700">
            <a:solidFill>
              <a:srgbClr val="16264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3611880" y="32461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0C9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Riftbrawl live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3611880" y="3657600"/>
            <a:ext cx="2148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0E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robin showcase with a two-person desk. Simulcast on turnemsideways and anzidmtg. Winning team takes the Prize Wall tickets.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17920" y="1965960"/>
            <a:ext cx="822960" cy="822960"/>
          </a:xfrm>
          <a:prstGeom prst="ellipse">
            <a:avLst/>
          </a:prstGeom>
          <a:solidFill>
            <a:srgbClr val="1B2E56"/>
          </a:solidFill>
          <a:ln w="19050">
            <a:solidFill>
              <a:srgbClr val="0AC8B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0" y="19659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0E6D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SAT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7086600" y="2377440"/>
            <a:ext cx="1920240" cy="0"/>
          </a:xfrm>
          <a:prstGeom prst="line">
            <a:avLst/>
          </a:prstGeom>
          <a:noFill/>
          <a:ln w="15875">
            <a:solidFill>
              <a:srgbClr val="0AC8B9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6217920" y="3063240"/>
            <a:ext cx="2606040" cy="2240280"/>
          </a:xfrm>
          <a:prstGeom prst="roundRect">
            <a:avLst>
              <a:gd name="adj" fmla="val 4898"/>
            </a:avLst>
          </a:prstGeom>
          <a:solidFill>
            <a:srgbClr val="16264A"/>
          </a:solidFill>
          <a:ln w="12700">
            <a:solidFill>
              <a:srgbClr val="16264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6446520" y="32461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C8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Co-stream the RQ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6446520" y="3657600"/>
            <a:ext cx="2148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0E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channels co-stream Day 1. Riftbrawl replays run during breaks and feed the audience into the main event.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9052560" y="1965960"/>
            <a:ext cx="822960" cy="822960"/>
          </a:xfrm>
          <a:prstGeom prst="ellipse">
            <a:avLst/>
          </a:prstGeom>
          <a:solidFill>
            <a:srgbClr val="1B2E56"/>
          </a:solidFill>
          <a:ln w="19050">
            <a:solidFill>
              <a:srgbClr val="0AC8B9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052560" y="19659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0E6D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SUN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9052560" y="3063240"/>
            <a:ext cx="2606040" cy="2240280"/>
          </a:xfrm>
          <a:prstGeom prst="roundRect">
            <a:avLst>
              <a:gd name="adj" fmla="val 4898"/>
            </a:avLst>
          </a:prstGeom>
          <a:solidFill>
            <a:srgbClr val="16264A"/>
          </a:solidFill>
          <a:ln w="12700">
            <a:solidFill>
              <a:srgbClr val="16264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9281160" y="32461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C8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cut &amp; VOD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9281160" y="3657600"/>
            <a:ext cx="2148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0E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Co-stream Top 8. Riftbrawl match VODs and a highlight reel go up on YouTube the same week.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56235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0C9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bring: cameras, switcher, overlays, commentary desk and talent, stream infrastructure, and the invited teams.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11247120" y="6355080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AA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14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286000" y="3200400"/>
            <a:ext cx="6400800" cy="6400800"/>
          </a:xfrm>
          <a:prstGeom prst="ellipse">
            <a:avLst/>
          </a:prstGeom>
          <a:solidFill>
            <a:srgbClr val="16264A">
              <a:alpha val="60000"/>
            </a:srgbClr>
          </a:solidFill>
          <a:ln w="12700">
            <a:solidFill>
              <a:srgbClr val="16264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0E6D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stop, and what happens next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8A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windows on the calendar fit a Thursday setup and a Friday showcase.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6035040" cy="1188720"/>
          </a:xfrm>
          <a:prstGeom prst="roundRect">
            <a:avLst>
              <a:gd name="adj" fmla="val 9231"/>
            </a:avLst>
          </a:prstGeom>
          <a:solidFill>
            <a:srgbClr val="16264A"/>
          </a:solidFill>
          <a:ln w="12700">
            <a:solidFill>
              <a:srgbClr val="16264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2121408"/>
            <a:ext cx="566928" cy="566928"/>
          </a:xfrm>
          <a:prstGeom prst="ellipse">
            <a:avLst/>
          </a:prstGeom>
          <a:solidFill>
            <a:srgbClr val="C8AA6E"/>
          </a:solidFill>
          <a:ln w="12700">
            <a:solidFill>
              <a:srgbClr val="C8AA6E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3303" y="2257471"/>
            <a:ext cx="294803" cy="294803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54480" y="201168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0E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RQ Los Angeles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1554480" y="23317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 25–27, 2026 · Los Angeles Convention Center, West Hall A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1554480" y="260604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AC8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Thursday Sept 24 setup · Friday Sept 25 showcase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48640" y="3246120"/>
            <a:ext cx="6035040" cy="1188720"/>
          </a:xfrm>
          <a:prstGeom prst="roundRect">
            <a:avLst>
              <a:gd name="adj" fmla="val 9231"/>
            </a:avLst>
          </a:prstGeom>
          <a:solidFill>
            <a:srgbClr val="16264A"/>
          </a:solidFill>
          <a:ln w="12700">
            <a:solidFill>
              <a:srgbClr val="16264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777240" y="3538728"/>
            <a:ext cx="566928" cy="566928"/>
          </a:xfrm>
          <a:prstGeom prst="ellipse">
            <a:avLst/>
          </a:prstGeom>
          <a:solidFill>
            <a:srgbClr val="C8AA6E"/>
          </a:solidFill>
          <a:ln w="12700">
            <a:solidFill>
              <a:srgbClr val="C8AA6E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303" y="3674791"/>
            <a:ext cx="294803" cy="294803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554480" y="342900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0E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Regional Championship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1554480" y="374904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 11–13, 2026 · Convergence Fest, Las Vegas</a:t>
            </a:r>
            <a:endParaRPr lang="en-US" sz="1150" dirty="0"/>
          </a:p>
        </p:txBody>
      </p:sp>
      <p:sp>
        <p:nvSpPr>
          <p:cNvPr id="16" name="Text 12"/>
          <p:cNvSpPr txBox="1"/>
          <p:nvPr/>
        </p:nvSpPr>
        <p:spPr>
          <a:xfrm>
            <a:off x="1554480" y="40233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AC8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64 qualified players in the building · Thursday Dec 10 setup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6949440" y="1828800"/>
            <a:ext cx="4709160" cy="3977640"/>
          </a:xfrm>
          <a:prstGeom prst="roundRect">
            <a:avLst>
              <a:gd name="adj" fmla="val 2759"/>
            </a:avLst>
          </a:prstGeom>
          <a:solidFill>
            <a:srgbClr val="16264A"/>
          </a:solidFill>
          <a:ln w="12700">
            <a:solidFill>
              <a:srgbClr val="16264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18" name="Text 14"/>
          <p:cNvSpPr txBox="1"/>
          <p:nvPr/>
        </p:nvSpPr>
        <p:spPr>
          <a:xfrm>
            <a:off x="7223760" y="201168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8A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LOCK IT IN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7223760" y="2487168"/>
            <a:ext cx="365760" cy="365760"/>
          </a:xfrm>
          <a:prstGeom prst="ellipse">
            <a:avLst/>
          </a:prstGeom>
          <a:solidFill>
            <a:srgbClr val="C8AA6E"/>
          </a:solidFill>
          <a:ln w="12700">
            <a:solidFill>
              <a:srgbClr val="C8AA6E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7223760" y="24871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7726680" y="246888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0E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the stop and the Friday window</a:t>
            </a:r>
            <a:endParaRPr lang="en-US" sz="1250" dirty="0"/>
          </a:p>
        </p:txBody>
      </p:sp>
      <p:sp>
        <p:nvSpPr>
          <p:cNvPr id="22" name="Shape 18"/>
          <p:cNvSpPr/>
          <p:nvPr/>
        </p:nvSpPr>
        <p:spPr>
          <a:xfrm>
            <a:off x="7223760" y="3127248"/>
            <a:ext cx="365760" cy="365760"/>
          </a:xfrm>
          <a:prstGeom prst="ellipse">
            <a:avLst/>
          </a:prstGeom>
          <a:solidFill>
            <a:srgbClr val="C8AA6E"/>
          </a:solidFill>
          <a:ln w="12700">
            <a:solidFill>
              <a:srgbClr val="C8AA6E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7223760" y="3127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24" name="Text 20"/>
          <p:cNvSpPr txBox="1"/>
          <p:nvPr/>
        </p:nvSpPr>
        <p:spPr>
          <a:xfrm>
            <a:off x="7726680" y="31089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0E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40 Prize Wall tickets (or LGS prize support)</a:t>
            </a:r>
            <a:endParaRPr lang="en-US" sz="1250" dirty="0"/>
          </a:p>
        </p:txBody>
      </p:sp>
      <p:sp>
        <p:nvSpPr>
          <p:cNvPr id="25" name="Shape 21"/>
          <p:cNvSpPr/>
          <p:nvPr/>
        </p:nvSpPr>
        <p:spPr>
          <a:xfrm>
            <a:off x="7223760" y="3767328"/>
            <a:ext cx="365760" cy="365760"/>
          </a:xfrm>
          <a:prstGeom prst="ellipse">
            <a:avLst/>
          </a:prstGeom>
          <a:solidFill>
            <a:srgbClr val="C8AA6E"/>
          </a:solidFill>
          <a:ln w="12700">
            <a:solidFill>
              <a:srgbClr val="C8AA6E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7223760" y="3767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7726680" y="374904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0E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hotel, flight voucher and meals</a:t>
            </a:r>
            <a:endParaRPr lang="en-US" sz="1250" dirty="0"/>
          </a:p>
        </p:txBody>
      </p:sp>
      <p:sp>
        <p:nvSpPr>
          <p:cNvPr id="28" name="Shape 24"/>
          <p:cNvSpPr/>
          <p:nvPr/>
        </p:nvSpPr>
        <p:spPr>
          <a:xfrm>
            <a:off x="7223760" y="4407408"/>
            <a:ext cx="365760" cy="365760"/>
          </a:xfrm>
          <a:prstGeom prst="ellipse">
            <a:avLst/>
          </a:prstGeom>
          <a:solidFill>
            <a:srgbClr val="C8AA6E"/>
          </a:solidFill>
          <a:ln w="12700">
            <a:solidFill>
              <a:srgbClr val="C8AA6E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7223760" y="44074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30" name="Text 26"/>
          <p:cNvSpPr txBox="1"/>
          <p:nvPr/>
        </p:nvSpPr>
        <p:spPr>
          <a:xfrm>
            <a:off x="7726680" y="438912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0E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 Thursday table space in the hall</a:t>
            </a:r>
            <a:endParaRPr lang="en-US" sz="1250" dirty="0"/>
          </a:p>
        </p:txBody>
      </p:sp>
      <p:sp>
        <p:nvSpPr>
          <p:cNvPr id="31" name="Shape 27"/>
          <p:cNvSpPr/>
          <p:nvPr/>
        </p:nvSpPr>
        <p:spPr>
          <a:xfrm>
            <a:off x="7223760" y="5047488"/>
            <a:ext cx="365760" cy="365760"/>
          </a:xfrm>
          <a:prstGeom prst="ellipse">
            <a:avLst/>
          </a:prstGeom>
          <a:solidFill>
            <a:srgbClr val="C8AA6E"/>
          </a:solidFill>
          <a:ln w="12700">
            <a:solidFill>
              <a:srgbClr val="C8AA6E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7223760" y="50474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1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33" name="Text 29"/>
          <p:cNvSpPr txBox="1"/>
          <p:nvPr/>
        </p:nvSpPr>
        <p:spPr>
          <a:xfrm>
            <a:off x="7726680" y="502920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0E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the teams: Disguised, The Secret Sauce, Ascension, Challenger TCG</a:t>
            </a:r>
            <a:endParaRPr lang="en-US" sz="1250" dirty="0"/>
          </a:p>
        </p:txBody>
      </p:sp>
      <p:sp>
        <p:nvSpPr>
          <p:cNvPr id="34" name="Text 30"/>
          <p:cNvSpPr txBox="1"/>
          <p:nvPr/>
        </p:nvSpPr>
        <p:spPr>
          <a:xfrm>
            <a:off x="548640" y="59893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A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Turn'em Sideways  ·  turnemsideways.gg  ·  twitch.tv/turnemsideways  ·  twitch.tv/anzidmtg</a:t>
            </a:r>
            <a:endParaRPr lang="en-US" sz="1200" dirty="0"/>
          </a:p>
        </p:txBody>
      </p:sp>
      <p:sp>
        <p:nvSpPr>
          <p:cNvPr id="35" name="Text 31"/>
          <p:cNvSpPr txBox="1"/>
          <p:nvPr/>
        </p:nvSpPr>
        <p:spPr>
          <a:xfrm>
            <a:off x="11247120" y="6355080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AA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Riftbrawl Proposal</dc:title>
  <dc:subject>PptxGenJS Presentation</dc:subject>
  <dc:creator>Turn'em Sideways</dc:creator>
  <cp:lastModifiedBy>Turn'em Sideways</cp:lastModifiedBy>
  <cp:revision>1</cp:revision>
  <dcterms:created xsi:type="dcterms:W3CDTF">2026-09-08T07:41:52Z</dcterms:created>
  <dcterms:modified xsi:type="dcterms:W3CDTF">2026-09-08T07:41:52Z</dcterms:modified>
</cp:coreProperties>
</file>