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Riftbrawl is a produced, team-based Riftbound showcase. We ran the first one in Singapore alongside the Regional Qualifier and want to make it a recurring stop-by-stop event with Riot/UVS or LGS prize support.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Riftbrawl Singapore was a mini tournament for top teams attending RQ Singapore. VODs uploaded the week of Sept 3. Per-video view counts should be pulled from YouTube Studio before sending.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YouTube numbers are from the July 2026 TES deck refresh (lifetime export). Twitch numbers are from public trackers pulled the week of Sept 8,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two candidate windows and the five-item checklist. Replace the partnerships placeholder with the contact email before sending.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411480"/>
            <a:ext cx="2011680" cy="871057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914400" y="150876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2F0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RIFTBRAWL</a:t>
            </a:r>
            <a:endParaRPr lang="en-US" sz="54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2377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3V3V3V3 TEAM BRAWL SHOWCASE FOR RIFTBOUND</a:t>
            </a:r>
            <a:endParaRPr lang="en-US" sz="1600" dirty="0"/>
          </a:p>
        </p:txBody>
      </p:sp>
      <p:sp>
        <p:nvSpPr>
          <p:cNvPr id="6" name="Text 2"/>
          <p:cNvSpPr txBox="1"/>
          <p:nvPr/>
        </p:nvSpPr>
        <p:spPr>
          <a:xfrm>
            <a:off x="1828800" y="276148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C9C9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Disguised · The Secret Sauce · Ascension · Challenger TCG · live with commentary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914400" y="3611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F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EVENT &amp; PRIZE-SUPPORT PROPOSAL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914400" y="3904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C9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TURN'EM SIDEWAYS  ×  ANZIDMTG   ·   SEPTEMBER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19302" cy="51435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987552" y="201168"/>
            <a:ext cx="7808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F0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IS RIFTBRAWL?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987552" y="658368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9C9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team-format invitational built for broadcast, not a Swiss grind.</a:t>
            </a:r>
            <a:endParaRPr lang="en-US" sz="1050" dirty="0"/>
          </a:p>
        </p:txBody>
      </p:sp>
      <p:sp>
        <p:nvSpPr>
          <p:cNvPr id="6" name="Shape 2"/>
          <p:cNvSpPr/>
          <p:nvPr/>
        </p:nvSpPr>
        <p:spPr>
          <a:xfrm>
            <a:off x="987552" y="1097280"/>
            <a:ext cx="1625803" cy="210312"/>
          </a:xfrm>
          <a:prstGeom prst="rect">
            <a:avLst/>
          </a:prstGeom>
          <a:solidFill>
            <a:srgbClr val="F2F047"/>
          </a:solidFill>
          <a:ln w="12700">
            <a:solidFill>
              <a:srgbClr val="F2F047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87552" y="1097280"/>
            <a:ext cx="1625803" cy="21031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21212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TEAMS OF THREE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987552" y="137160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C9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Disguised, The Secret Sauce, Ascension and Challenger TCG in a 3v3v3v3 team brawl. Flexes to 16 with an alternate per team.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987552" y="1993392"/>
            <a:ext cx="1025957" cy="210312"/>
          </a:xfrm>
          <a:prstGeom prst="rect">
            <a:avLst/>
          </a:prstGeom>
          <a:solidFill>
            <a:srgbClr val="B3FF40"/>
          </a:solidFill>
          <a:ln w="12700">
            <a:solidFill>
              <a:srgbClr val="B3FF4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87552" y="1993392"/>
            <a:ext cx="1025957" cy="21031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21212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ROUND ROBIN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987552" y="226771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C9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Every team plays every team. Short, high-stakes rounds keep the desk busy and the bracket easy to follow on stream.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987552" y="2889504"/>
            <a:ext cx="1475842" cy="210312"/>
          </a:xfrm>
          <a:prstGeom prst="rect">
            <a:avLst/>
          </a:prstGeom>
          <a:solidFill>
            <a:srgbClr val="71A5FC"/>
          </a:solidFill>
          <a:ln w="12700">
            <a:solidFill>
              <a:srgbClr val="71A5F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87552" y="2889504"/>
            <a:ext cx="1475842" cy="21031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21212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PRODUCED SHOWCASE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987552" y="3163824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C9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Camera-ready feature table, a two-person commentary desk, overlays and player intros. Built to be watched.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987552" y="3785616"/>
            <a:ext cx="2225650" cy="210312"/>
          </a:xfrm>
          <a:prstGeom prst="rect">
            <a:avLst/>
          </a:prstGeom>
          <a:solidFill>
            <a:srgbClr val="11B6FB"/>
          </a:solidFill>
          <a:ln w="12700">
            <a:solidFill>
              <a:srgbClr val="11B6FB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987552" y="3785616"/>
            <a:ext cx="2225650" cy="21031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21212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TWO CHANNELS, ONE BROADCAST</a:t>
            </a:r>
            <a:endParaRPr lang="en-US" sz="850" dirty="0"/>
          </a:p>
        </p:txBody>
      </p:sp>
      <p:sp>
        <p:nvSpPr>
          <p:cNvPr id="17" name="Text 13"/>
          <p:cNvSpPr txBox="1"/>
          <p:nvPr/>
        </p:nvSpPr>
        <p:spPr>
          <a:xfrm>
            <a:off x="987552" y="405993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C9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Live on twitch.tv/turnemsideways and twitch.tv/anzidmtg, with match VODs and highlights on YouTube.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5486400" y="1097280"/>
            <a:ext cx="3310128" cy="3493008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669280" y="12344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F0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FORMAT AT A GLANCE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5669280" y="160020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B3F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PLAYERS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6720840" y="16002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12–16 (4 teams × 3, plus alternates)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5669280" y="205740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B3F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STRUCTURE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6720840" y="20574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3v3v3v3 team brawl, round robin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5669280" y="251460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B3F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 TIME</a:t>
            </a:r>
            <a:endParaRPr lang="en-US" sz="850" dirty="0"/>
          </a:p>
        </p:txBody>
      </p:sp>
      <p:sp>
        <p:nvSpPr>
          <p:cNvPr id="25" name="Text 21"/>
          <p:cNvSpPr txBox="1"/>
          <p:nvPr/>
        </p:nvSpPr>
        <p:spPr>
          <a:xfrm>
            <a:off x="6720840" y="25146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One evening block (Friday)</a:t>
            </a:r>
            <a:endParaRPr lang="en-US" sz="900" dirty="0"/>
          </a:p>
        </p:txBody>
      </p:sp>
      <p:sp>
        <p:nvSpPr>
          <p:cNvPr id="26" name="Text 22"/>
          <p:cNvSpPr txBox="1"/>
          <p:nvPr/>
        </p:nvSpPr>
        <p:spPr>
          <a:xfrm>
            <a:off x="5669280" y="297180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B3F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TABLE NEED</a:t>
            </a:r>
            <a:endParaRPr lang="en-US" sz="850" dirty="0"/>
          </a:p>
        </p:txBody>
      </p:sp>
      <p:sp>
        <p:nvSpPr>
          <p:cNvPr id="27" name="Text 23"/>
          <p:cNvSpPr txBox="1"/>
          <p:nvPr/>
        </p:nvSpPr>
        <p:spPr>
          <a:xfrm>
            <a:off x="6720840" y="29718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One feature table + staging</a:t>
            </a:r>
            <a:endParaRPr lang="en-US" sz="900" dirty="0"/>
          </a:p>
        </p:txBody>
      </p:sp>
      <p:sp>
        <p:nvSpPr>
          <p:cNvPr id="28" name="Text 24"/>
          <p:cNvSpPr txBox="1"/>
          <p:nvPr/>
        </p:nvSpPr>
        <p:spPr>
          <a:xfrm>
            <a:off x="5669280" y="342900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B3F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PRIZING</a:t>
            </a:r>
            <a:endParaRPr lang="en-US" sz="850" dirty="0"/>
          </a:p>
        </p:txBody>
      </p:sp>
      <p:sp>
        <p:nvSpPr>
          <p:cNvPr id="29" name="Text 25"/>
          <p:cNvSpPr txBox="1"/>
          <p:nvPr/>
        </p:nvSpPr>
        <p:spPr>
          <a:xfrm>
            <a:off x="6720840" y="34290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Prize Wall tickets to the winning team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5669280" y="385876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F0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TEAMS</a:t>
            </a:r>
            <a:endParaRPr lang="en-US" sz="900" dirty="0"/>
          </a:p>
        </p:txBody>
      </p:sp>
      <p:sp>
        <p:nvSpPr>
          <p:cNvPr id="31" name="Shape 27"/>
          <p:cNvSpPr/>
          <p:nvPr/>
        </p:nvSpPr>
        <p:spPr>
          <a:xfrm>
            <a:off x="5669280" y="4114800"/>
            <a:ext cx="685800" cy="310896"/>
          </a:xfrm>
          <a:prstGeom prst="rect">
            <a:avLst/>
          </a:prstGeom>
          <a:solidFill>
            <a:srgbClr val="F2F047"/>
          </a:solidFill>
          <a:ln w="12700">
            <a:solidFill>
              <a:srgbClr val="F2F047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669280" y="4114800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12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DSG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6428232" y="4114800"/>
            <a:ext cx="685800" cy="310896"/>
          </a:xfrm>
          <a:prstGeom prst="rect">
            <a:avLst/>
          </a:prstGeom>
          <a:solidFill>
            <a:srgbClr val="B3FF40"/>
          </a:solidFill>
          <a:ln w="12700">
            <a:solidFill>
              <a:srgbClr val="B3FF40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428232" y="4114800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12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TSS</a:t>
            </a:r>
            <a:endParaRPr lang="en-US" sz="1000" dirty="0"/>
          </a:p>
        </p:txBody>
      </p:sp>
      <p:sp>
        <p:nvSpPr>
          <p:cNvPr id="35" name="Shape 31"/>
          <p:cNvSpPr/>
          <p:nvPr/>
        </p:nvSpPr>
        <p:spPr>
          <a:xfrm>
            <a:off x="7187184" y="4114800"/>
            <a:ext cx="685800" cy="310896"/>
          </a:xfrm>
          <a:prstGeom prst="rect">
            <a:avLst/>
          </a:prstGeom>
          <a:solidFill>
            <a:srgbClr val="71A5FC"/>
          </a:solidFill>
          <a:ln w="12700">
            <a:solidFill>
              <a:srgbClr val="71A5FC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7187184" y="4114800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12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ASC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7946136" y="4114800"/>
            <a:ext cx="685800" cy="310896"/>
          </a:xfrm>
          <a:prstGeom prst="rect">
            <a:avLst/>
          </a:prstGeom>
          <a:solidFill>
            <a:srgbClr val="11B6FB"/>
          </a:solidFill>
          <a:ln w="12700">
            <a:solidFill>
              <a:srgbClr val="11B6FB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7946136" y="4114800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12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CTCG</a:t>
            </a:r>
            <a:endParaRPr lang="en-US" sz="1000" dirty="0"/>
          </a:p>
        </p:txBody>
      </p:sp>
      <p:sp>
        <p:nvSpPr>
          <p:cNvPr id="39" name="Text 35"/>
          <p:cNvSpPr txBox="1"/>
          <p:nvPr/>
        </p:nvSpPr>
        <p:spPr>
          <a:xfrm>
            <a:off x="987552" y="4736592"/>
            <a:ext cx="7808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i="1" dirty="0">
                <a:solidFill>
                  <a:srgbClr val="9C9C9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Format is deliberately compact: four teams, round robin, one evening. It fits a Friday slot before the main event without competing with the Regional Qualifier itself.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19302" cy="51435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987552" y="201168"/>
            <a:ext cx="7808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F0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PROOF OF CONCEPT — SINGAPORE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987552" y="658368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9C9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Pro-player invitational showdown, live from the RQ Singapore weekend — Sept 4–6, 2026.</a:t>
            </a:r>
            <a:endParaRPr lang="en-US" sz="1050" dirty="0"/>
          </a:p>
        </p:txBody>
      </p:sp>
      <p:sp>
        <p:nvSpPr>
          <p:cNvPr id="6" name="Shape 2"/>
          <p:cNvSpPr/>
          <p:nvPr/>
        </p:nvSpPr>
        <p:spPr>
          <a:xfrm>
            <a:off x="987552" y="1097280"/>
            <a:ext cx="1100938" cy="210312"/>
          </a:xfrm>
          <a:prstGeom prst="rect">
            <a:avLst/>
          </a:prstGeom>
          <a:solidFill>
            <a:srgbClr val="F2F047"/>
          </a:solidFill>
          <a:ln w="12700">
            <a:solidFill>
              <a:srgbClr val="F2F047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87552" y="1097280"/>
            <a:ext cx="1100938" cy="21031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21212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SHOWCASE</a:t>
            </a:r>
            <a:endParaRPr lang="en-US" sz="850" dirty="0"/>
          </a:p>
        </p:txBody>
      </p:sp>
      <p:sp>
        <p:nvSpPr>
          <p:cNvPr id="8" name="Shape 4"/>
          <p:cNvSpPr/>
          <p:nvPr/>
        </p:nvSpPr>
        <p:spPr>
          <a:xfrm>
            <a:off x="987552" y="1371600"/>
            <a:ext cx="1920240" cy="960120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152144" y="144475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B3F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1152144" y="18745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C9C9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invited teams</a:t>
            </a:r>
            <a:endParaRPr lang="en-US" sz="850" dirty="0"/>
          </a:p>
        </p:txBody>
      </p:sp>
      <p:sp>
        <p:nvSpPr>
          <p:cNvPr id="11" name="Shape 7"/>
          <p:cNvSpPr/>
          <p:nvPr/>
        </p:nvSpPr>
        <p:spPr>
          <a:xfrm>
            <a:off x="3044952" y="1371600"/>
            <a:ext cx="1920240" cy="960120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209544" y="144475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B3F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3209544" y="18745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C9C9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 players on the feature table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5102352" y="1371600"/>
            <a:ext cx="1920240" cy="960120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266944" y="144475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71A5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3v3v3v3</a:t>
            </a:r>
            <a:endParaRPr lang="en-US" sz="2000" dirty="0"/>
          </a:p>
        </p:txBody>
      </p:sp>
      <p:sp>
        <p:nvSpPr>
          <p:cNvPr id="16" name="Text 12"/>
          <p:cNvSpPr txBox="1"/>
          <p:nvPr/>
        </p:nvSpPr>
        <p:spPr>
          <a:xfrm>
            <a:off x="5266944" y="18745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C9C9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team brawl, round robin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7159752" y="1371600"/>
            <a:ext cx="1920240" cy="960120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324344" y="144475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71A5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2000" dirty="0"/>
          </a:p>
        </p:txBody>
      </p:sp>
      <p:sp>
        <p:nvSpPr>
          <p:cNvPr id="19" name="Text 15"/>
          <p:cNvSpPr txBox="1"/>
          <p:nvPr/>
        </p:nvSpPr>
        <p:spPr>
          <a:xfrm>
            <a:off x="7324344" y="18745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C9C9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streams: main broadcast + co-streams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987552" y="2542032"/>
            <a:ext cx="875995" cy="210312"/>
          </a:xfrm>
          <a:prstGeom prst="rect">
            <a:avLst/>
          </a:prstGeom>
          <a:solidFill>
            <a:srgbClr val="B3FF40"/>
          </a:solidFill>
          <a:ln w="12700">
            <a:solidFill>
              <a:srgbClr val="B3FF4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987552" y="2542032"/>
            <a:ext cx="875995" cy="21031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21212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TEAMS</a:t>
            </a:r>
            <a:endParaRPr lang="en-US" sz="850" dirty="0"/>
          </a:p>
        </p:txBody>
      </p:sp>
      <p:sp>
        <p:nvSpPr>
          <p:cNvPr id="22" name="Shape 18"/>
          <p:cNvSpPr/>
          <p:nvPr/>
        </p:nvSpPr>
        <p:spPr>
          <a:xfrm>
            <a:off x="987552" y="2816352"/>
            <a:ext cx="1920240" cy="566928"/>
          </a:xfrm>
          <a:prstGeom prst="rect">
            <a:avLst/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097280" y="2926080"/>
            <a:ext cx="566928" cy="347472"/>
          </a:xfrm>
          <a:prstGeom prst="rect">
            <a:avLst/>
          </a:prstGeom>
          <a:solidFill>
            <a:srgbClr val="F2F047"/>
          </a:solidFill>
          <a:ln w="12700">
            <a:solidFill>
              <a:srgbClr val="F2F047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1097280" y="2926080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1212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DSG</a:t>
            </a:r>
            <a:endParaRPr lang="en-US" sz="950" dirty="0"/>
          </a:p>
        </p:txBody>
      </p:sp>
      <p:sp>
        <p:nvSpPr>
          <p:cNvPr id="25" name="Text 21"/>
          <p:cNvSpPr txBox="1"/>
          <p:nvPr/>
        </p:nvSpPr>
        <p:spPr>
          <a:xfrm>
            <a:off x="1755648" y="2926080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Disguised</a:t>
            </a:r>
            <a:endParaRPr lang="en-US" sz="950" dirty="0"/>
          </a:p>
        </p:txBody>
      </p:sp>
      <p:sp>
        <p:nvSpPr>
          <p:cNvPr id="26" name="Shape 22"/>
          <p:cNvSpPr/>
          <p:nvPr/>
        </p:nvSpPr>
        <p:spPr>
          <a:xfrm>
            <a:off x="3044952" y="2816352"/>
            <a:ext cx="1920240" cy="566928"/>
          </a:xfrm>
          <a:prstGeom prst="rect">
            <a:avLst/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3154680" y="2926080"/>
            <a:ext cx="566928" cy="347472"/>
          </a:xfrm>
          <a:prstGeom prst="rect">
            <a:avLst/>
          </a:prstGeom>
          <a:solidFill>
            <a:srgbClr val="B3FF40"/>
          </a:solidFill>
          <a:ln w="12700">
            <a:solidFill>
              <a:srgbClr val="B3FF40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3154680" y="2926080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1212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TSS</a:t>
            </a:r>
            <a:endParaRPr lang="en-US" sz="950" dirty="0"/>
          </a:p>
        </p:txBody>
      </p:sp>
      <p:sp>
        <p:nvSpPr>
          <p:cNvPr id="29" name="Text 25"/>
          <p:cNvSpPr txBox="1"/>
          <p:nvPr/>
        </p:nvSpPr>
        <p:spPr>
          <a:xfrm>
            <a:off x="3813048" y="2926080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Secret Sauce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5102352" y="2816352"/>
            <a:ext cx="1920240" cy="566928"/>
          </a:xfrm>
          <a:prstGeom prst="rect">
            <a:avLst/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212080" y="2926080"/>
            <a:ext cx="566928" cy="347472"/>
          </a:xfrm>
          <a:prstGeom prst="rect">
            <a:avLst/>
          </a:prstGeom>
          <a:solidFill>
            <a:srgbClr val="71A5FC"/>
          </a:solidFill>
          <a:ln w="12700">
            <a:solidFill>
              <a:srgbClr val="71A5FC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212080" y="2926080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1212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ASC</a:t>
            </a:r>
            <a:endParaRPr lang="en-US" sz="950" dirty="0"/>
          </a:p>
        </p:txBody>
      </p:sp>
      <p:sp>
        <p:nvSpPr>
          <p:cNvPr id="33" name="Text 29"/>
          <p:cNvSpPr txBox="1"/>
          <p:nvPr/>
        </p:nvSpPr>
        <p:spPr>
          <a:xfrm>
            <a:off x="5870448" y="2926080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Ascension</a:t>
            </a:r>
            <a:endParaRPr lang="en-US" sz="950" dirty="0"/>
          </a:p>
        </p:txBody>
      </p:sp>
      <p:sp>
        <p:nvSpPr>
          <p:cNvPr id="34" name="Shape 30"/>
          <p:cNvSpPr/>
          <p:nvPr/>
        </p:nvSpPr>
        <p:spPr>
          <a:xfrm>
            <a:off x="7159752" y="2816352"/>
            <a:ext cx="1920240" cy="566928"/>
          </a:xfrm>
          <a:prstGeom prst="rect">
            <a:avLst/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269480" y="2926080"/>
            <a:ext cx="566928" cy="347472"/>
          </a:xfrm>
          <a:prstGeom prst="rect">
            <a:avLst/>
          </a:prstGeom>
          <a:solidFill>
            <a:srgbClr val="11B6FB"/>
          </a:solidFill>
          <a:ln w="12700">
            <a:solidFill>
              <a:srgbClr val="11B6FB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7269480" y="2926080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1212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CTCG</a:t>
            </a:r>
            <a:endParaRPr lang="en-US" sz="950" dirty="0"/>
          </a:p>
        </p:txBody>
      </p:sp>
      <p:sp>
        <p:nvSpPr>
          <p:cNvPr id="37" name="Text 33"/>
          <p:cNvSpPr txBox="1"/>
          <p:nvPr/>
        </p:nvSpPr>
        <p:spPr>
          <a:xfrm>
            <a:off x="7927848" y="2926080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Challenger TCG</a:t>
            </a:r>
            <a:endParaRPr lang="en-US" sz="950" dirty="0"/>
          </a:p>
        </p:txBody>
      </p:sp>
      <p:sp>
        <p:nvSpPr>
          <p:cNvPr id="38" name="Shape 34"/>
          <p:cNvSpPr/>
          <p:nvPr/>
        </p:nvSpPr>
        <p:spPr>
          <a:xfrm>
            <a:off x="987552" y="3584448"/>
            <a:ext cx="1775765" cy="210312"/>
          </a:xfrm>
          <a:prstGeom prst="rect">
            <a:avLst/>
          </a:prstGeom>
          <a:solidFill>
            <a:srgbClr val="71A5FC"/>
          </a:solidFill>
          <a:ln w="12700">
            <a:solidFill>
              <a:srgbClr val="71A5FC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987552" y="3584448"/>
            <a:ext cx="1775765" cy="21031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21212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WEEKEND AROUND IT</a:t>
            </a:r>
            <a:endParaRPr lang="en-US" sz="850" dirty="0"/>
          </a:p>
        </p:txBody>
      </p:sp>
      <p:sp>
        <p:nvSpPr>
          <p:cNvPr id="40" name="Text 36"/>
          <p:cNvSpPr txBox="1"/>
          <p:nvPr/>
        </p:nvSpPr>
        <p:spPr>
          <a:xfrm>
            <a:off x="987552" y="3840480"/>
            <a:ext cx="78089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Riftbound Regional Qualifier: Singapore, Singapore EXPO — 2,055 players, $25,000 USD prize pool</a:t>
            </a:r>
            <a:endParaRPr lang="en-US" sz="900" dirty="0"/>
          </a:p>
          <a:p>
            <a:pPr marL="152400" indent="-1524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Official coverage on Riftbound's YouTube and Twitch; Toast, Sydeon, Yvonnie, Brodin and Frodan on the viewing stage</a:t>
            </a:r>
            <a:endParaRPr lang="en-US" sz="900" dirty="0"/>
          </a:p>
          <a:p>
            <a:pPr marL="152400" indent="-1524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Riftbrawl ran as the pre-RQ showcase; team-vs-team VODs are on YouTube now</a:t>
            </a:r>
            <a:endParaRPr lang="en-US" sz="900" dirty="0"/>
          </a:p>
        </p:txBody>
      </p:sp>
      <p:sp>
        <p:nvSpPr>
          <p:cNvPr id="41" name="Text 37"/>
          <p:cNvSpPr txBox="1"/>
          <p:nvPr/>
        </p:nvSpPr>
        <p:spPr>
          <a:xfrm>
            <a:off x="987552" y="4736592"/>
            <a:ext cx="7808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i="1" dirty="0">
                <a:solidFill>
                  <a:srgbClr val="9C9C9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Sources: YouTube “RIFTBRAWL: Singapore | A pro player invitational Showdown” and “RiftBrawl Singapore – DSG vs TSS vs ASC vs CTCG”; Liquipedia (RQ Singapore 2026); playriftbound.com “All Eyes on Singapore”. VOD view counts: add from YouTube Studio.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19302" cy="51435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987552" y="201168"/>
            <a:ext cx="7808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F0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IT STREAMS — REACH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987552" y="658368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9C9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Both channels carry the show live. Turn'em Sideways YouTube adds the VOD and highlight audience.</a:t>
            </a:r>
            <a:endParaRPr lang="en-US" sz="1050" dirty="0"/>
          </a:p>
        </p:txBody>
      </p:sp>
      <p:sp>
        <p:nvSpPr>
          <p:cNvPr id="6" name="Shape 2"/>
          <p:cNvSpPr/>
          <p:nvPr/>
        </p:nvSpPr>
        <p:spPr>
          <a:xfrm>
            <a:off x="987552" y="1097280"/>
            <a:ext cx="2487168" cy="3429000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1124712" y="1234440"/>
            <a:ext cx="2150669" cy="210312"/>
          </a:xfrm>
          <a:prstGeom prst="rect">
            <a:avLst/>
          </a:prstGeom>
          <a:solidFill>
            <a:srgbClr val="F2F047"/>
          </a:solidFill>
          <a:ln w="12700">
            <a:solidFill>
              <a:srgbClr val="F2F047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1124712" y="1234440"/>
            <a:ext cx="2150669" cy="21031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21212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TURN'EM SIDEWAYS · YOUTUBE</a:t>
            </a:r>
            <a:endParaRPr lang="en-US" sz="850" dirty="0"/>
          </a:p>
        </p:txBody>
      </p:sp>
      <p:sp>
        <p:nvSpPr>
          <p:cNvPr id="9" name="Text 5"/>
          <p:cNvSpPr txBox="1"/>
          <p:nvPr/>
        </p:nvSpPr>
        <p:spPr>
          <a:xfrm>
            <a:off x="1124712" y="1627632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B3F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1,895,358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1124712" y="20574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C9C9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lifetime views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2267712" y="1627632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B3F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425,739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2267712" y="20574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C9C9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watch hours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1124712" y="2724912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71A5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38,000+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1124712" y="31546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C9C9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avg. monthly unique viewers</a:t>
            </a:r>
            <a:endParaRPr 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2267712" y="2724912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71A5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87%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2267712" y="31546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C9C9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returning viewers</a:t>
            </a:r>
            <a:endParaRPr lang="en-US" sz="850" dirty="0"/>
          </a:p>
        </p:txBody>
      </p:sp>
      <p:sp>
        <p:nvSpPr>
          <p:cNvPr id="17" name="Text 13"/>
          <p:cNvSpPr txBox="1"/>
          <p:nvPr/>
        </p:nvSpPr>
        <p:spPr>
          <a:xfrm>
            <a:off x="1124712" y="4114800"/>
            <a:ext cx="221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i="1" dirty="0">
                <a:solidFill>
                  <a:srgbClr val="9C9C9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Lifetime export through July 20, 2026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3648456" y="1097280"/>
            <a:ext cx="2487168" cy="3429000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3785616" y="1234440"/>
            <a:ext cx="2075688" cy="210312"/>
          </a:xfrm>
          <a:prstGeom prst="rect">
            <a:avLst/>
          </a:prstGeom>
          <a:solidFill>
            <a:srgbClr val="B3FF40"/>
          </a:solidFill>
          <a:ln w="12700">
            <a:solidFill>
              <a:srgbClr val="B3FF40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3785616" y="1234440"/>
            <a:ext cx="2075688" cy="21031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21212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TURN'EM SIDEWAYS · TWITCH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3785616" y="1627632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B3F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4,212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3785616" y="20574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C9C9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hours watched, last 30 days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4928616" y="1627632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B3F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188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4928616" y="20574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C9C9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peak concurrent viewers</a:t>
            </a:r>
            <a:endParaRPr lang="en-US" sz="850" dirty="0"/>
          </a:p>
        </p:txBody>
      </p:sp>
      <p:sp>
        <p:nvSpPr>
          <p:cNvPr id="25" name="Text 21"/>
          <p:cNvSpPr txBox="1"/>
          <p:nvPr/>
        </p:nvSpPr>
        <p:spPr>
          <a:xfrm>
            <a:off x="3785616" y="2724912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71A5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66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3785616" y="31546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C9C9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avg. viewers · 63 hrs live</a:t>
            </a:r>
            <a:endParaRPr lang="en-US" sz="850" dirty="0"/>
          </a:p>
        </p:txBody>
      </p:sp>
      <p:sp>
        <p:nvSpPr>
          <p:cNvPr id="27" name="Text 23"/>
          <p:cNvSpPr txBox="1"/>
          <p:nvPr/>
        </p:nvSpPr>
        <p:spPr>
          <a:xfrm>
            <a:off x="4928616" y="2724912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71A5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#8</a:t>
            </a:r>
            <a:endParaRPr lang="en-US" sz="1500" dirty="0"/>
          </a:p>
        </p:txBody>
      </p:sp>
      <p:sp>
        <p:nvSpPr>
          <p:cNvPr id="28" name="Text 24"/>
          <p:cNvSpPr txBox="1"/>
          <p:nvPr/>
        </p:nvSpPr>
        <p:spPr>
          <a:xfrm>
            <a:off x="4928616" y="31546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C9C9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English Riftbound channel (#11 overall)</a:t>
            </a:r>
            <a:endParaRPr lang="en-US" sz="850" dirty="0"/>
          </a:p>
        </p:txBody>
      </p:sp>
      <p:sp>
        <p:nvSpPr>
          <p:cNvPr id="29" name="Text 25"/>
          <p:cNvSpPr txBox="1"/>
          <p:nvPr/>
        </p:nvSpPr>
        <p:spPr>
          <a:xfrm>
            <a:off x="3785616" y="4114800"/>
            <a:ext cx="221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i="1" dirty="0">
                <a:solidFill>
                  <a:srgbClr val="9C9C9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TwitchMetrics, trailing 30 days</a:t>
            </a:r>
            <a:endParaRPr lang="en-US" sz="750" dirty="0"/>
          </a:p>
        </p:txBody>
      </p:sp>
      <p:sp>
        <p:nvSpPr>
          <p:cNvPr id="30" name="Shape 26"/>
          <p:cNvSpPr/>
          <p:nvPr/>
        </p:nvSpPr>
        <p:spPr>
          <a:xfrm>
            <a:off x="6309360" y="1097280"/>
            <a:ext cx="2487168" cy="3429000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6446520" y="1234440"/>
            <a:ext cx="1475842" cy="210312"/>
          </a:xfrm>
          <a:prstGeom prst="rect">
            <a:avLst/>
          </a:prstGeom>
          <a:solidFill>
            <a:srgbClr val="71A5FC"/>
          </a:solidFill>
          <a:ln w="12700">
            <a:solidFill>
              <a:srgbClr val="71A5FC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446520" y="1234440"/>
            <a:ext cx="1475842" cy="21031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21212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ANZIDMTG · TWITCH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6446520" y="1627632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B3F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7.9K</a:t>
            </a:r>
            <a:endParaRPr lang="en-US" sz="1500" dirty="0"/>
          </a:p>
        </p:txBody>
      </p:sp>
      <p:sp>
        <p:nvSpPr>
          <p:cNvPr id="34" name="Text 30"/>
          <p:cNvSpPr txBox="1"/>
          <p:nvPr/>
        </p:nvSpPr>
        <p:spPr>
          <a:xfrm>
            <a:off x="6446520" y="20574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C9C9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followers · Twitch Partner</a:t>
            </a:r>
            <a:endParaRPr lang="en-US" sz="850" dirty="0"/>
          </a:p>
        </p:txBody>
      </p:sp>
      <p:sp>
        <p:nvSpPr>
          <p:cNvPr id="35" name="Text 31"/>
          <p:cNvSpPr txBox="1"/>
          <p:nvPr/>
        </p:nvSpPr>
        <p:spPr>
          <a:xfrm>
            <a:off x="7589520" y="1627632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B3F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2,257</a:t>
            </a:r>
            <a:endParaRPr lang="en-US" sz="1500" dirty="0"/>
          </a:p>
        </p:txBody>
      </p:sp>
      <p:sp>
        <p:nvSpPr>
          <p:cNvPr id="36" name="Text 32"/>
          <p:cNvSpPr txBox="1"/>
          <p:nvPr/>
        </p:nvSpPr>
        <p:spPr>
          <a:xfrm>
            <a:off x="7589520" y="20574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C9C9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peak concurrent viewers</a:t>
            </a:r>
            <a:endParaRPr lang="en-US" sz="850" dirty="0"/>
          </a:p>
        </p:txBody>
      </p:sp>
      <p:sp>
        <p:nvSpPr>
          <p:cNvPr id="37" name="Text 33"/>
          <p:cNvSpPr txBox="1"/>
          <p:nvPr/>
        </p:nvSpPr>
        <p:spPr>
          <a:xfrm>
            <a:off x="6446520" y="2724912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71A5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4,535</a:t>
            </a:r>
            <a:endParaRPr lang="en-US" sz="1500" dirty="0"/>
          </a:p>
        </p:txBody>
      </p:sp>
      <p:sp>
        <p:nvSpPr>
          <p:cNvPr id="38" name="Text 34"/>
          <p:cNvSpPr txBox="1"/>
          <p:nvPr/>
        </p:nvSpPr>
        <p:spPr>
          <a:xfrm>
            <a:off x="6446520" y="31546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C9C9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hours streamed all-time</a:t>
            </a:r>
            <a:endParaRPr lang="en-US" sz="850" dirty="0"/>
          </a:p>
        </p:txBody>
      </p:sp>
      <p:sp>
        <p:nvSpPr>
          <p:cNvPr id="39" name="Text 35"/>
          <p:cNvSpPr txBox="1"/>
          <p:nvPr/>
        </p:nvSpPr>
        <p:spPr>
          <a:xfrm>
            <a:off x="7589520" y="2724912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71A5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796</a:t>
            </a:r>
            <a:endParaRPr lang="en-US" sz="1500" dirty="0"/>
          </a:p>
        </p:txBody>
      </p:sp>
      <p:sp>
        <p:nvSpPr>
          <p:cNvPr id="40" name="Text 36"/>
          <p:cNvSpPr txBox="1"/>
          <p:nvPr/>
        </p:nvSpPr>
        <p:spPr>
          <a:xfrm>
            <a:off x="7589520" y="31546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C9C9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active stream days</a:t>
            </a:r>
            <a:endParaRPr lang="en-US" sz="850" dirty="0"/>
          </a:p>
        </p:txBody>
      </p:sp>
      <p:sp>
        <p:nvSpPr>
          <p:cNvPr id="41" name="Text 37"/>
          <p:cNvSpPr txBox="1"/>
          <p:nvPr/>
        </p:nvSpPr>
        <p:spPr>
          <a:xfrm>
            <a:off x="6446520" y="4114800"/>
            <a:ext cx="221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i="1" dirty="0">
                <a:solidFill>
                  <a:srgbClr val="9C9C9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TwitchTracker, all-time</a:t>
            </a:r>
            <a:endParaRPr lang="en-US" sz="750" dirty="0"/>
          </a:p>
        </p:txBody>
      </p:sp>
      <p:sp>
        <p:nvSpPr>
          <p:cNvPr id="42" name="Text 38"/>
          <p:cNvSpPr txBox="1"/>
          <p:nvPr/>
        </p:nvSpPr>
        <p:spPr>
          <a:xfrm>
            <a:off x="987552" y="4736592"/>
            <a:ext cx="7808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i="1" dirty="0">
                <a:solidFill>
                  <a:srgbClr val="9C9C9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YouTube figures: lifetime YouTube Analytics export (July 2026 deck). Twitch figures: public trackers as of early September 2026. anzidmtg also produced the Riftbound $10K at SCGCON Vegas.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19302" cy="51435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987552" y="201168"/>
            <a:ext cx="7808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F0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TWO WAYS TO RUN IT — IDEALLY BOTH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987552" y="658368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9C9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Pick the path that fits the venue. Either way we produce and stream it.</a:t>
            </a:r>
            <a:endParaRPr lang="en-US" sz="1050" dirty="0"/>
          </a:p>
        </p:txBody>
      </p:sp>
      <p:sp>
        <p:nvSpPr>
          <p:cNvPr id="6" name="Shape 2"/>
          <p:cNvSpPr/>
          <p:nvPr/>
        </p:nvSpPr>
        <p:spPr>
          <a:xfrm>
            <a:off x="987552" y="1097280"/>
            <a:ext cx="3813048" cy="2377440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1152144" y="1234440"/>
            <a:ext cx="2825496" cy="210312"/>
          </a:xfrm>
          <a:prstGeom prst="rect">
            <a:avLst/>
          </a:prstGeom>
          <a:solidFill>
            <a:srgbClr val="F2F047"/>
          </a:solidFill>
          <a:ln w="12700">
            <a:solidFill>
              <a:srgbClr val="F2F047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1152144" y="1234440"/>
            <a:ext cx="2825496" cy="21031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21212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OPTION A — OFFICIAL FRIDAY SHOWCASE</a:t>
            </a:r>
            <a:endParaRPr lang="en-US" sz="850" dirty="0"/>
          </a:p>
        </p:txBody>
      </p:sp>
      <p:sp>
        <p:nvSpPr>
          <p:cNvPr id="9" name="Text 5"/>
          <p:cNvSpPr txBox="1"/>
          <p:nvPr/>
        </p:nvSpPr>
        <p:spPr>
          <a:xfrm>
            <a:off x="1152144" y="1508760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9C9C9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Inside the RQ venue, on the event schedule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1152144" y="1828800"/>
            <a:ext cx="34838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Friday evening slot with a full commentary desk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table in the hall, produced like a top cut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Prize Wall tickets funded by organized play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Cross-promoted with the official broadcast and socials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Sets up Saturday's co-stream audience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4983480" y="1097280"/>
            <a:ext cx="3813048" cy="2377440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148072" y="1234440"/>
            <a:ext cx="2825496" cy="210312"/>
          </a:xfrm>
          <a:prstGeom prst="rect">
            <a:avLst/>
          </a:prstGeom>
          <a:solidFill>
            <a:srgbClr val="B3FF40"/>
          </a:solidFill>
          <a:ln w="12700">
            <a:solidFill>
              <a:srgbClr val="B3FF4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148072" y="1234440"/>
            <a:ext cx="2825496" cy="21031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21212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OPTION B — UNOFFICIAL AT THE LOCALS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5148072" y="1508760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9C9C9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Partner game store near the venue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5148072" y="1828800"/>
            <a:ext cx="34838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Runs Thursday or Friday night at a local game store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Store provides prize support (packs, boxes, promos)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bring cameras, desk, overlays and the stream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Drives foot traffic and signups to the store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Zero schedule conflict with the main event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987552" y="3703320"/>
            <a:ext cx="501091" cy="210312"/>
          </a:xfrm>
          <a:prstGeom prst="rect">
            <a:avLst/>
          </a:prstGeom>
          <a:solidFill>
            <a:srgbClr val="71A5FC"/>
          </a:solidFill>
          <a:ln w="12700">
            <a:solidFill>
              <a:srgbClr val="71A5FC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87552" y="3703320"/>
            <a:ext cx="501091" cy="21031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21212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BOTH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1673352" y="3703320"/>
            <a:ext cx="7123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Hotel, flight voucher and meals for the production crew make either option viable at any stop on the calendar.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987552" y="4736592"/>
            <a:ext cx="7808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i="1" dirty="0">
                <a:solidFill>
                  <a:srgbClr val="9C9C9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Option A is the preferred path. Option B is the fallback with a partner LGS. Best case is both: an official showcase plus a locals night.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19302" cy="51435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987552" y="201168"/>
            <a:ext cx="7808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F0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WE'RE ASKING FOR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987552" y="658368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9C9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Small, specific, and mostly things the event already has on hand. Everything else, we bring.</a:t>
            </a:r>
            <a:endParaRPr lang="en-US" sz="1050" dirty="0"/>
          </a:p>
        </p:txBody>
      </p:sp>
      <p:sp>
        <p:nvSpPr>
          <p:cNvPr id="6" name="Shape 2"/>
          <p:cNvSpPr/>
          <p:nvPr/>
        </p:nvSpPr>
        <p:spPr>
          <a:xfrm>
            <a:off x="987552" y="1097280"/>
            <a:ext cx="2487168" cy="1572768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152144" y="1207008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F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1152144" y="1627632"/>
            <a:ext cx="21579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PRIZE WALL TICKETS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152144" y="1883664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9C9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Prizing for the winning team. Forty tickets is one Plated Legend at the wall, or split as packs across the podium.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3648456" y="1097280"/>
            <a:ext cx="2487168" cy="1572768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813048" y="1207008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F0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THU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3813048" y="1627632"/>
            <a:ext cx="21579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TABLE SPACE IN THE HALL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3813048" y="1883664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9C9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One feature table plus staging in the venue hall to set up, light and record. No stage, no AV from the venue.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6309360" y="1097280"/>
            <a:ext cx="2487168" cy="1572768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73952" y="1207008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1A5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FRI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6473952" y="1627632"/>
            <a:ext cx="21579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SHOWCASE SLOT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6473952" y="1883664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9C9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 evening window to run the round robin live with commentary.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987552" y="2834640"/>
            <a:ext cx="2487168" cy="1572768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52144" y="2944368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F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HOTEL</a:t>
            </a:r>
            <a:endParaRPr lang="en-US" sz="2200" dirty="0"/>
          </a:p>
        </p:txBody>
      </p:sp>
      <p:sp>
        <p:nvSpPr>
          <p:cNvPr id="20" name="Text 16"/>
          <p:cNvSpPr txBox="1"/>
          <p:nvPr/>
        </p:nvSpPr>
        <p:spPr>
          <a:xfrm>
            <a:off x="1152144" y="3364992"/>
            <a:ext cx="21579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ACCOMMODATIONS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1152144" y="3621024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9C9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Rooms for the production crew across the event nights.</a:t>
            </a:r>
            <a:endParaRPr lang="en-US" sz="850" dirty="0"/>
          </a:p>
        </p:txBody>
      </p:sp>
      <p:sp>
        <p:nvSpPr>
          <p:cNvPr id="22" name="Shape 18"/>
          <p:cNvSpPr/>
          <p:nvPr/>
        </p:nvSpPr>
        <p:spPr>
          <a:xfrm>
            <a:off x="3648456" y="2834640"/>
            <a:ext cx="2487168" cy="1572768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3813048" y="2944368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F0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FLIGHT</a:t>
            </a:r>
            <a:endParaRPr lang="en-US" sz="2200" dirty="0"/>
          </a:p>
        </p:txBody>
      </p:sp>
      <p:sp>
        <p:nvSpPr>
          <p:cNvPr id="24" name="Text 20"/>
          <p:cNvSpPr txBox="1"/>
          <p:nvPr/>
        </p:nvSpPr>
        <p:spPr>
          <a:xfrm>
            <a:off x="3813048" y="3364992"/>
            <a:ext cx="21579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TRAVEL VOUCHER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3813048" y="3621024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9C9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Travel to the host city for the crew, so each stop is a yes.</a:t>
            </a: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6309360" y="2834640"/>
            <a:ext cx="2487168" cy="1572768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473952" y="2944368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1A5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MEALS</a:t>
            </a:r>
            <a:endParaRPr lang="en-US" sz="2200" dirty="0"/>
          </a:p>
        </p:txBody>
      </p:sp>
      <p:sp>
        <p:nvSpPr>
          <p:cNvPr id="28" name="Text 24"/>
          <p:cNvSpPr txBox="1"/>
          <p:nvPr/>
        </p:nvSpPr>
        <p:spPr>
          <a:xfrm>
            <a:off x="6473952" y="3364992"/>
            <a:ext cx="21579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 PRODUCTION DAYS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6473952" y="3621024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9C9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Crew meals on Thursday and Friday.</a:t>
            </a:r>
            <a:endParaRPr lang="en-US" sz="850" dirty="0"/>
          </a:p>
        </p:txBody>
      </p:sp>
      <p:sp>
        <p:nvSpPr>
          <p:cNvPr id="30" name="Text 26"/>
          <p:cNvSpPr txBox="1"/>
          <p:nvPr/>
        </p:nvSpPr>
        <p:spPr>
          <a:xfrm>
            <a:off x="987552" y="4736592"/>
            <a:ext cx="7808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i="1" dirty="0">
                <a:solidFill>
                  <a:srgbClr val="9C9C9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Prize Wall rate reference: 40 tickets = one Plated Legend (metal card); 1 ticket = one booster, per Riftbound Regional Qualifier prize-wall listings.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19302" cy="51435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987552" y="201168"/>
            <a:ext cx="7808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F0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EVENT WEEKEND — HOW IT RUNS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987552" y="658368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9C9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only need table space Thursday and a Friday window. Nothing touches the main event days.</a:t>
            </a:r>
            <a:endParaRPr lang="en-US" sz="1050" dirty="0"/>
          </a:p>
        </p:txBody>
      </p:sp>
      <p:sp>
        <p:nvSpPr>
          <p:cNvPr id="6" name="Shape 2"/>
          <p:cNvSpPr/>
          <p:nvPr/>
        </p:nvSpPr>
        <p:spPr>
          <a:xfrm>
            <a:off x="1261872" y="1481328"/>
            <a:ext cx="7260336" cy="0"/>
          </a:xfrm>
          <a:prstGeom prst="line">
            <a:avLst/>
          </a:prstGeom>
          <a:noFill/>
          <a:ln w="19050">
            <a:solidFill>
              <a:srgbClr val="F2F047"/>
            </a:solidFill>
            <a:prstDash val="solid"/>
            <a:tailEnd type="triangle"/>
          </a:ln>
        </p:spPr>
      </p:sp>
      <p:sp>
        <p:nvSpPr>
          <p:cNvPr id="7" name="Shape 3"/>
          <p:cNvSpPr/>
          <p:nvPr/>
        </p:nvSpPr>
        <p:spPr>
          <a:xfrm>
            <a:off x="987552" y="1325880"/>
            <a:ext cx="548640" cy="310896"/>
          </a:xfrm>
          <a:prstGeom prst="rect">
            <a:avLst/>
          </a:prstGeom>
          <a:solidFill>
            <a:srgbClr val="F2F047"/>
          </a:solidFill>
          <a:ln w="12700">
            <a:solidFill>
              <a:srgbClr val="F2F047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987552" y="132588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12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THU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987552" y="1828800"/>
            <a:ext cx="1828800" cy="1874520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124712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2F0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LOAD-IN &amp; RECORD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1124712" y="228600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C9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 the feature table in the hall, light it, record team intros and a format explainer. Badge-pickup day, so the hall is quiet.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2971800" y="1325880"/>
            <a:ext cx="548640" cy="310896"/>
          </a:xfrm>
          <a:prstGeom prst="rect">
            <a:avLst/>
          </a:prstGeom>
          <a:solidFill>
            <a:srgbClr val="B3FF40"/>
          </a:solidFill>
          <a:ln w="12700">
            <a:solidFill>
              <a:srgbClr val="B3FF4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971800" y="132588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12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FRI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2971800" y="1828800"/>
            <a:ext cx="1828800" cy="1874520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10896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3F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RIFTBRAWL LIVE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3108960" y="228600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C9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Round robin showcase with a two-person desk. Simulcast on turnemsideways and anzidmtg. Winning team takes the Prize Wall tickets.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4956048" y="1325880"/>
            <a:ext cx="548640" cy="310896"/>
          </a:xfrm>
          <a:prstGeom prst="rect">
            <a:avLst/>
          </a:prstGeom>
          <a:solidFill>
            <a:srgbClr val="71A5FC"/>
          </a:solidFill>
          <a:ln w="12700">
            <a:solidFill>
              <a:srgbClr val="71A5FC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956048" y="132588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12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SAT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4956048" y="1828800"/>
            <a:ext cx="1828800" cy="1874520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093208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1A5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CO-STREAM THE RQ</a:t>
            </a:r>
            <a:endParaRPr lang="en-US" sz="1050" dirty="0"/>
          </a:p>
        </p:txBody>
      </p:sp>
      <p:sp>
        <p:nvSpPr>
          <p:cNvPr id="21" name="Text 17"/>
          <p:cNvSpPr txBox="1"/>
          <p:nvPr/>
        </p:nvSpPr>
        <p:spPr>
          <a:xfrm>
            <a:off x="5093208" y="228600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C9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Both channels co-stream Day 1. Riftbrawl replays run during breaks and feed the audience into the main event.</a:t>
            </a:r>
            <a:endParaRPr lang="en-US" sz="900" dirty="0"/>
          </a:p>
        </p:txBody>
      </p:sp>
      <p:sp>
        <p:nvSpPr>
          <p:cNvPr id="22" name="Shape 18"/>
          <p:cNvSpPr/>
          <p:nvPr/>
        </p:nvSpPr>
        <p:spPr>
          <a:xfrm>
            <a:off x="6940296" y="1325880"/>
            <a:ext cx="548640" cy="310896"/>
          </a:xfrm>
          <a:prstGeom prst="rect">
            <a:avLst/>
          </a:prstGeom>
          <a:solidFill>
            <a:srgbClr val="11B6FB"/>
          </a:solidFill>
          <a:ln w="12700">
            <a:solidFill>
              <a:srgbClr val="11B6FB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940296" y="132588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12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SUN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6940296" y="1828800"/>
            <a:ext cx="1828800" cy="1874520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077456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B6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TOP CUT &amp; VOD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7077456" y="228600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C9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Co-stream the Top 8. Riftbrawl match VODs and a highlight reel go up on YouTube the same week.</a:t>
            </a:r>
            <a:endParaRPr lang="en-US" sz="900" dirty="0"/>
          </a:p>
        </p:txBody>
      </p:sp>
      <p:sp>
        <p:nvSpPr>
          <p:cNvPr id="27" name="Shape 23"/>
          <p:cNvSpPr/>
          <p:nvPr/>
        </p:nvSpPr>
        <p:spPr>
          <a:xfrm>
            <a:off x="987552" y="3931920"/>
            <a:ext cx="801014" cy="210312"/>
          </a:xfrm>
          <a:prstGeom prst="rect">
            <a:avLst/>
          </a:prstGeom>
          <a:solidFill>
            <a:srgbClr val="F2F047"/>
          </a:solidFill>
          <a:ln w="12700">
            <a:solidFill>
              <a:srgbClr val="F2F047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87552" y="3931920"/>
            <a:ext cx="801014" cy="21031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21212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BRING</a:t>
            </a:r>
            <a:endParaRPr lang="en-US" sz="850" dirty="0"/>
          </a:p>
        </p:txBody>
      </p:sp>
      <p:sp>
        <p:nvSpPr>
          <p:cNvPr id="29" name="Text 25"/>
          <p:cNvSpPr txBox="1"/>
          <p:nvPr/>
        </p:nvSpPr>
        <p:spPr>
          <a:xfrm>
            <a:off x="1901952" y="3931920"/>
            <a:ext cx="6894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Cameras, switcher, overlays, commentary desk and talent, stream infrastructure, and the four invited teams.</a:t>
            </a:r>
            <a:endParaRPr lang="en-US" sz="950" dirty="0"/>
          </a:p>
        </p:txBody>
      </p:sp>
      <p:sp>
        <p:nvSpPr>
          <p:cNvPr id="30" name="Text 26"/>
          <p:cNvSpPr txBox="1"/>
          <p:nvPr/>
        </p:nvSpPr>
        <p:spPr>
          <a:xfrm>
            <a:off x="987552" y="4736592"/>
            <a:ext cx="7808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i="1" dirty="0">
                <a:solidFill>
                  <a:srgbClr val="9C9C9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Thursday is a quiet setup day. Friday is the showcase. Saturday and Sunday we co-stream the main event as usual, where Riftbrawl replays keep working for the organizer.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19302" cy="51435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987552" y="201168"/>
            <a:ext cx="7808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F0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NEXT STOP — AND WHAT HAPPENS NEXT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987552" y="658368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9C9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Two windows on the calendar fit a Thursday setup and a Friday showcase.</a:t>
            </a:r>
            <a:endParaRPr lang="en-US" sz="1050" dirty="0"/>
          </a:p>
        </p:txBody>
      </p:sp>
      <p:sp>
        <p:nvSpPr>
          <p:cNvPr id="6" name="Shape 2"/>
          <p:cNvSpPr/>
          <p:nvPr/>
        </p:nvSpPr>
        <p:spPr>
          <a:xfrm>
            <a:off x="987552" y="1097280"/>
            <a:ext cx="4206240" cy="1207008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1152144" y="1234440"/>
            <a:ext cx="1250899" cy="210312"/>
          </a:xfrm>
          <a:prstGeom prst="rect">
            <a:avLst/>
          </a:prstGeom>
          <a:solidFill>
            <a:srgbClr val="F2F047"/>
          </a:solidFill>
          <a:ln w="12700">
            <a:solidFill>
              <a:srgbClr val="F2F047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1152144" y="1234440"/>
            <a:ext cx="1250899" cy="21031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21212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RQ LOS ANGELES</a:t>
            </a:r>
            <a:endParaRPr lang="en-US" sz="850" dirty="0"/>
          </a:p>
        </p:txBody>
      </p:sp>
      <p:sp>
        <p:nvSpPr>
          <p:cNvPr id="9" name="Text 5"/>
          <p:cNvSpPr txBox="1"/>
          <p:nvPr/>
        </p:nvSpPr>
        <p:spPr>
          <a:xfrm>
            <a:off x="1152144" y="155448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Sept 25–27, 2026 · Los Angeles Convention Center, West Hall A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1152144" y="190195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2F0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Thursday Sept 24 setup · Friday Sept 25 showcase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987552" y="2468880"/>
            <a:ext cx="4206240" cy="1207008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52144" y="2606040"/>
            <a:ext cx="2000707" cy="210312"/>
          </a:xfrm>
          <a:prstGeom prst="rect">
            <a:avLst/>
          </a:prstGeom>
          <a:solidFill>
            <a:srgbClr val="B3FF40"/>
          </a:solidFill>
          <a:ln w="12700">
            <a:solidFill>
              <a:srgbClr val="B3FF4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152144" y="2606040"/>
            <a:ext cx="2000707" cy="21031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21212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REGIONAL CHAMPIONSHIP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1152144" y="292608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Dec 11–13, 2026 · Convergence Fest, Las Vegas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1152144" y="327355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3F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Top 64 qualified players in the building · Thursday Dec 10 setup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5440680" y="1097280"/>
            <a:ext cx="3355848" cy="3429000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623560" y="12344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F0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 LOCK IT IN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623560" y="1600200"/>
            <a:ext cx="384048" cy="384048"/>
          </a:xfrm>
          <a:prstGeom prst="rect">
            <a:avLst/>
          </a:prstGeom>
          <a:solidFill>
            <a:srgbClr val="F2F047"/>
          </a:solidFill>
          <a:ln w="12700">
            <a:solidFill>
              <a:srgbClr val="F2F047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62356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6126480" y="161848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Confirm the stop and the Friday window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5623560" y="2167128"/>
            <a:ext cx="384048" cy="384048"/>
          </a:xfrm>
          <a:prstGeom prst="rect">
            <a:avLst/>
          </a:prstGeom>
          <a:solidFill>
            <a:srgbClr val="71A5FC"/>
          </a:solidFill>
          <a:ln w="12700">
            <a:solidFill>
              <a:srgbClr val="71A5F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623560" y="2167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6126480" y="2185416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40 Prize Wall tickets (or LGS prize support)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5623560" y="2734056"/>
            <a:ext cx="384048" cy="384048"/>
          </a:xfrm>
          <a:prstGeom prst="rect">
            <a:avLst/>
          </a:prstGeom>
          <a:solidFill>
            <a:srgbClr val="B3FF40"/>
          </a:solidFill>
          <a:ln w="12700">
            <a:solidFill>
              <a:srgbClr val="B3FF4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623560" y="2734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6126480" y="2752344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Confirm hotel, flight voucher and meals</a:t>
            </a:r>
            <a:endParaRPr lang="en-US" sz="900" dirty="0"/>
          </a:p>
        </p:txBody>
      </p:sp>
      <p:sp>
        <p:nvSpPr>
          <p:cNvPr id="27" name="Shape 23"/>
          <p:cNvSpPr/>
          <p:nvPr/>
        </p:nvSpPr>
        <p:spPr>
          <a:xfrm>
            <a:off x="5623560" y="3300984"/>
            <a:ext cx="384048" cy="384048"/>
          </a:xfrm>
          <a:prstGeom prst="rect">
            <a:avLst/>
          </a:prstGeom>
          <a:solidFill>
            <a:srgbClr val="11B6FB"/>
          </a:solidFill>
          <a:ln w="12700">
            <a:solidFill>
              <a:srgbClr val="11B6FB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5623560" y="3300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6126480" y="3319272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Assign Thursday table space in the hall</a:t>
            </a:r>
            <a:endParaRPr lang="en-US" sz="900" dirty="0"/>
          </a:p>
        </p:txBody>
      </p:sp>
      <p:sp>
        <p:nvSpPr>
          <p:cNvPr id="30" name="Shape 26"/>
          <p:cNvSpPr/>
          <p:nvPr/>
        </p:nvSpPr>
        <p:spPr>
          <a:xfrm>
            <a:off x="5623560" y="3867912"/>
            <a:ext cx="384048" cy="384048"/>
          </a:xfrm>
          <a:prstGeom prst="rect">
            <a:avLst/>
          </a:prstGeom>
          <a:solidFill>
            <a:srgbClr val="F2F047"/>
          </a:solidFill>
          <a:ln w="12700">
            <a:solidFill>
              <a:srgbClr val="F2F047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623560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6126480" y="388620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Confirm the teams: Disguised, The Secret Sauce, Ascension, Challenger TCG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987552" y="4736592"/>
            <a:ext cx="7808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i="1" dirty="0">
                <a:solidFill>
                  <a:srgbClr val="9C9C9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Both windows are UVS/Riot organized-play weekends with a Friday start, which leaves Thursday for load-in and recording.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685800"/>
            <a:ext cx="3108960" cy="134618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914400" y="2377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2F0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LET'S TURN'EM SIDEWAYS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285292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9C9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Riftbrawl: four teams, one evening, two channels. Let's put it on the schedule.</a:t>
            </a:r>
            <a:endParaRPr lang="en-US" sz="11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3520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F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TURNEMSIDEWAYS.GG   ·   TWITCH.TV/TURNEMSIDEWAYS   ·   TWITCH.TV/ANZIDMTG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914400" y="3931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PARTNERSHIPS: [add contact email]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Riftbrawl Proposal</dc:title>
  <dc:subject>PptxGenJS Presentation</dc:subject>
  <dc:creator>Turn'em Sideways</dc:creator>
  <cp:lastModifiedBy>Turn'em Sideways</cp:lastModifiedBy>
  <cp:revision>1</cp:revision>
  <dcterms:created xsi:type="dcterms:W3CDTF">2026-09-09T19:48:40Z</dcterms:created>
  <dcterms:modified xsi:type="dcterms:W3CDTF">2026-09-09T19:48:40Z</dcterms:modified>
</cp:coreProperties>
</file>